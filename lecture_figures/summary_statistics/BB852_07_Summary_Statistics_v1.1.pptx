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6"/>
    <p:sldId id="275" r:id="rId5"/>
    <p:sldId id="276" r:id="rId4"/>
    <p:sldId id="277" r:id="rId3"/>
    <p:sldId id="278" r:id="rId2"/>
    <p:sldId id="279" r:id="rId30"/>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3.xml"/><Relationship Id="rId3" Type="http://schemas.openxmlformats.org/officeDocument/2006/relationships/slide" Target="slides/slide22.xml"/><Relationship Id="rId4" Type="http://schemas.openxmlformats.org/officeDocument/2006/relationships/slide" Target="slides/slide2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a:t>
            </a:r>
          </a:p>
          <a:p>
            <a:r>
              <a:t>This lecture is the bridge from describing and visualising data (lectures 04-06) to statistical inference (randomisation tests next). Guiding question: why do two samples from the same population tell different stories?</a:t>
            </a:r>
          </a:p>
          <a:p>
            <a:r>
              <a:t>One running example throughout: a hypothetical light-trap survey of one moth species. All numbers are simulated (seeds in lecture_figures/summary_statistics/generate_figures.R).</a:t>
            </a:r>
          </a:p>
          <a:p>
            <a:r>
              <a:t>Cover graphic: 14 samples of 16 moths from one population; diamonds are sample means.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a:t>
            </a:r>
          </a:p>
          <a:p>
            <a:r>
              <a:t>Objectives map onto the four sections: 1 samples; 2 describing; 3 probability; 4 uncertainty (objectives 4 and 5).</a:t>
            </a:r>
          </a:p>
          <a:p>
            <a:r>
              <a:t>Practical afterwards: book chapter 11, sections 11.4, 11.6, 11.8-11.9.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We almost never measure the whole population.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a:t>
            </a:r>
          </a:p>
          <a:p>
            <a:r>
              <a:t>Question: what is the typical forewing length of adult moths of this species at the site in June? The target population is all of them. The sampling frame is the moths a light trap can attract. The observed sample is the moths actually caught and measured.</a:t>
            </a:r>
          </a:p>
          <a:p>
            <a:r>
              <a:t>Each step can let some moths in more easily than others: some individuals fly less, are less attracted to light, or fly mostly on nights we did not trap. That is selection bias, and it is a different problem from chance variation between samples.</a:t>
            </a:r>
          </a:p>
          <a:p>
            <a:r>
              <a:t>Also: measuring the same moth twice does not give two independent observations.</a:t>
            </a:r>
          </a:p>
          <a:p>
            <a:r>
              <a:t>Links to book section 11.2 (populations, samples and bias).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 Vote, then discuss.</a:t>
            </a:r>
          </a:p>
          <a:p>
            <a:r>
              <a:t>Answer: probably A, but it depends, and that is the point. B has ten times the data, but if body size affects flight activity on warm nights, B is systematically biased, and more data only make it more precisely wrong. A larger n reduces random error; it does not fix the way the sample was chosen.</a:t>
            </a:r>
          </a:p>
          <a:p>
            <a:r>
              <a:t>Ask: what would you need to know to decide? (Whether size affects flight or attraction to light; whether early and late June moths differ.)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Location, spread and shape.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a:t>
            </a:r>
          </a:p>
          <a:p>
            <a:r>
              <a:t>Simulated forewing lengths of 100 moths (sample mean 27.8 mm, SD 1.8 mm). Ask the class to read the four features off the histogram before giving any formula. The tick marks under the bars are the individual moths.</a:t>
            </a:r>
          </a:p>
          <a:p>
            <a:r>
              <a:t>Callback to lecture 06 (Anscombe): very different data can share the same summary numbers, so look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a:t>
            </a:r>
          </a:p>
          <a:p>
            <a:r>
              <a:t>Simulated counts of moths on 60 trap-nights (negative binomial, mean 4.5; the realised mean is 4.5 and the median 3). Name the shape: right (positive) skew, the tail is on the right.</a:t>
            </a:r>
          </a:p>
          <a:p>
            <a:r>
              <a:t>Neither statistic is 'better'. If you want the total catch over a season, the mean is what you need (mean x number of nights). If you want to describe a typical night, the median is more representative.</a:t>
            </a:r>
          </a:p>
          <a:p>
            <a:r>
              <a:t>Misconception to head off: the mean is not 'wrong' for skewed or count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a:t>
            </a:r>
          </a:p>
          <a:p>
            <a:r>
              <a:t>A population of 100 grows by a factor of 1.6, then 0.7 (a bad year), then 1.6, ending at 179. The arithmetic mean rate, 1.3, overshoots: 100 x 1.3^3 = 220. The geometric mean, (1.6 x 0.7 x 1.6)^(1/3) = 1.215, gives 100 x 1.215^3 = 179.</a:t>
            </a:r>
          </a:p>
          <a:p>
            <a:r>
              <a:t>Rule: use the arithmetic mean when quantities add up (mass, length); the geometric mean when they multiply (growth rates, ratios). Equivalent R: exp(mean(log(x))).</a:t>
            </a:r>
          </a:p>
          <a:p>
            <a:r>
              <a:t>Harmonic mean (from the old deck, now optional): the right average for rates over a fixed distance or amount, e.g. average speed over equal distances, 1 / mean(1 / 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a:t>
            </a:r>
          </a:p>
          <a:p>
            <a:r>
              <a:t>Ten simulated moths (mean 28.4 mm). Squaring stops positive and negative deviations cancelling and weights big deviations more.</a:t>
            </a:r>
          </a:p>
          <a:p>
            <a:r>
              <a:t>n - 1: the sample mean is, by construction, the value that minimises the sum of squared deviations from these ten points, so deviations from it are on average smaller than deviations from the true population mean. Dividing by n - 1 instead of n makes the variance unbiased (Bessel's correction); the SD, its square root, is still very slightly biased low, which we ignore. With n = 1 there is no information about spread at all, and n - 1 = 0 says so.</a:t>
            </a:r>
          </a:p>
          <a:p>
            <a:r>
              <a:t>Variance is in squared units (mm squared); the SD is back in mm, so it is the one we report.</a:t>
            </a:r>
          </a:p>
          <a:p>
            <a:r>
              <a:t>Students need variance again in ANOVA.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a:t>
            </a:r>
          </a:p>
          <a:p>
            <a:r>
              <a:t>Same 60 trap-nights as the mean/median slide. summary(x) gives: min 0, lower quartile 1, median 3, mean 4.5, upper quartile 6.5, max 17. IQR = 6.5 - 1 = 5.5. Upper whisker limit = 6.5 + 1.5 x 5.5 = 14.75, so 16 and 17 are drawn as points.</a:t>
            </a:r>
          </a:p>
          <a:p>
            <a:r>
              <a:t>Choosing a summary: roughly symmetric data, mean and SD; strongly skewed data or outliers, median and IQR (and show the distribution); counts, the mean is still the expected count, add median and quartiles where useful. Always give n and units.</a:t>
            </a:r>
          </a:p>
          <a:p>
            <a:r>
              <a:t>An 'outlier' may be a recording error or a genuinely busy night: biology first.</a:t>
            </a:r>
          </a:p>
          <a:p>
            <a:r>
              <a:t>The whiskers stop at 14, so this box plot does not show the maximum (17). Base R's boxplot() and fivenum() use Tukey's hinges and give an upper hinge of 7 here, not 6.5; students redoing this in base R may see a slightly different box.</a:t>
            </a:r>
          </a:p>
          <a:p>
            <a:r>
              <a:t>Book 11.7 compares normal and Poisson samples with box plots.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From describing what we saw to describing what could happen.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a:t>
            </a:r>
          </a:p>
          <a:p>
            <a:r>
              <a:t>Probability as a long-run proportion: if we watched very many larvae, 70% would survive. Assumes each larva survives independently with the same probability.</a:t>
            </a:r>
          </a:p>
          <a:p>
            <a:r>
              <a:t>The figure is the binomial distribution for 20 trials and p = 0.7 (name it; it returns in the GLM lectures). The expected value, 14, is the most likely single outcome but still happens less than one time in five.</a:t>
            </a:r>
          </a:p>
          <a:p>
            <a:r>
              <a:t>Book 11.3.1 (probability). Odds and log-odds (11.3.2) are a preview for logistic regression later; not needed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a:t>
            </a:r>
          </a:p>
          <a:p>
            <a:r>
              <a:t>Left: Poisson with lambda = 2. Each bar is the probability of exactly that count, e.g. P(X = 2) = 0.27, and the bars add up to 1.</a:t>
            </a:r>
          </a:p>
          <a:p>
            <a:r>
              <a:t>Right: normal with mean 28 mm and SD 2 mm. The height of the curve is a probability density, not a probability (it can even exceed 1 for very narrow distributions). The probability that a moth's forewing is between 26 and 30 mm is the shaded area, 0.68.</a:t>
            </a:r>
          </a:p>
          <a:p>
            <a:r>
              <a:t>Book 11.3.4 (probability density).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a:t>
            </a:r>
          </a:p>
          <a:p>
            <a:r>
              <a:t>mu (the population mean) moves the curve; sigma (the population SD) widens or narrows it. Greek letters for population parameters; x-bar and s for the sample statistics that estimate them.</a:t>
            </a:r>
          </a:p>
          <a:p>
            <a:r>
              <a:t>The 68-95 rule describes the normal model, not all data: for the skewed trap counts, mean +/- 2 SD = 4.5 +/- 9 runs below zero, which is impossible for counts. That does not make the mean or SD wrong; it means a symmetric interval is a poor description of skewed data.</a:t>
            </a:r>
          </a:p>
          <a:p>
            <a:r>
              <a:t>Later linear models assume normally distributed residuals, not normally distributed raw data.</a:t>
            </a:r>
          </a:p>
          <a:p>
            <a:r>
              <a:t>Practical: book 11.4, rnorm().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a:t>
            </a:r>
          </a:p>
          <a:p>
            <a:r>
              <a:t>Counts per unit of effort, here moths per trap-night. Small lambda: strongly right-skewed with many zeros; larger lambda: more symmetric.</a:t>
            </a:r>
          </a:p>
          <a:p>
            <a:r>
              <a:t>In a Poisson model the variance equals the mean. Real ecological counts are often more variable than that (overdispersion), for example because moths arrive in groups or nights differ in weather. Name the term; it returns in the GLM lectures.</a:t>
            </a:r>
          </a:p>
          <a:p>
            <a:r>
              <a:t>Practical: book 11.6, rpois().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a:t>
            </a:r>
          </a:p>
          <a:p>
            <a:r>
              <a:t>Answer: B. Counts are whole numbers from 0 upwards, which is what the Poisson describes. A normal model allows negative and fractional counts; a binomial needs a fixed number of trials; a uniform says 0 and 20 moths are equally likely.</a:t>
            </a:r>
          </a:p>
          <a:p>
            <a:r>
              <a:t>Follow-up: our simulated counts had mean 4.5 but variance about 20 (SD 4.5), far more than a Poisson's variance of 4.5. So Poisson is a starting point to check, not a final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The most important idea today: estimates vary from sample to sample.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 min.</a:t>
            </a:r>
          </a:p>
          <a:p>
            <a:r>
              <a:t>Nothing about the population changed between rows; only which moths we happened to catch. Each sample mean is an estimate of the population mean (28 mm), and each one misses by a bit.</a:t>
            </a:r>
          </a:p>
          <a:p>
            <a:r>
              <a:t>Ask: if you had only one row, how would you know how far off you might be? That is what the next three slides answer.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a:t>
            </a:r>
          </a:p>
          <a:p>
            <a:r>
              <a:t>Each bar counts how many of 2,000 simulated samples had a mean in that range: this is the sampling distribution of the mean. SD of the 2,000 means: 0.51 mm for n = 16, 0.25 mm for n = 64.</a:t>
            </a:r>
          </a:p>
          <a:p>
            <a:r>
              <a:t>Two separate ideas. Law of large numbers: as n grows, the sample mean gets closer to the population mean. How fast: the spread of sample means shrinks with the square root of n, so four times the moths halves it (this is the SEM, next slide).</a:t>
            </a:r>
          </a:p>
          <a:p>
            <a:r>
              <a:t>But only for random error: the biased warm-night sample from section 1 would centre on the wrong value however large n became.</a:t>
            </a:r>
          </a:p>
          <a:p>
            <a:r>
              <a:t>Practical: the virtual-dice exercise (book 11.8-11.9) shows the same thing with proportions of sixes. (The shape becoming normal is the central limit theorem; not needed today.)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a:t>
            </a:r>
          </a:p>
          <a:p>
            <a:r>
              <a:t>The SEM formula predicts exactly what we simulated: 2 / sqrt(16) = 0.5 and 2 / sqrt(64) = 0.25 (simulated 0.51 and 0.25).</a:t>
            </a:r>
          </a:p>
          <a:p>
            <a:r>
              <a:t>The SD estimates a fixed property of the population and does not shrink with n. The SEM shrinks as n grows.</a:t>
            </a:r>
          </a:p>
          <a:p>
            <a:r>
              <a:t>Common error: error bars showing SEM make data look less variable than they are; always say which you plotted.</a:t>
            </a:r>
          </a:p>
          <a:p>
            <a:r>
              <a:t>The simple formula assumes independent observations; repeated measures on the same moth or clustered sampling break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a:t>
            </a:r>
          </a:p>
          <a:p>
            <a:r>
              <a:t>Twenty samples of 16 moths, each with its 95% CI from t.test(). One (orange) misses 28 mm. Seed chosen so the display shows the expected 1 in 20; real repetitions vary.</a:t>
            </a:r>
          </a:p>
          <a:p>
            <a:r>
              <a:t>The 95% describes the procedure: in the long run, 95% of intervals built this way contain the true mean. Avoid saying 'there is a 95% probability that this particular interval contains the mean'.</a:t>
            </a:r>
          </a:p>
          <a:p>
            <a:r>
              <a:t>For n = 16 the multiplier is 2.13 (t with 15 df), not 1.96; widths vary because each sample has its own SD.</a:t>
            </a:r>
          </a:p>
          <a:p>
            <a:r>
              <a:t>Overlapping CIs do not by themselves mean 'no difference'; comparing groups comes with t-tests. This is the definition of a CI used from here on (lecture 02 points forward to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 (pairs 2 min, then a quick class check).</a:t>
            </a:r>
          </a:p>
          <a:p>
            <a:r>
              <a:t>A: all moths of the species at the site; if roughly symmetric, mean and SD (show the histogram); remember trap bias.</a:t>
            </a:r>
          </a:p>
          <a:p>
            <a:r>
              <a:t>B: nights in the season at that site; counts are skewed, so median and quartiles for a typical night, the mean for the expected catch; Poisson is a candidate model, check for overdispersion.</a:t>
            </a:r>
          </a:p>
          <a:p>
            <a:r>
              <a:t>C: larvae in the population; report survivors out of 40 and the proportion; precision needs an SE or CI for a proportion, which comes later with binomial GLMs. Are the larvae independent (same clutch?)</a:t>
            </a:r>
          </a:p>
          <a:p>
            <a:r>
              <a:t>No single correct summary independent of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a:t>
            </a:r>
          </a:p>
          <a:p>
            <a:r>
              <a:t>Practical priorities (about 60 min): normal distribution 11.4; Poisson 11.6; virtual dice 11.8-11.9. Comparing two normals (11.5), normal vs Poisson (11.7) and coin flipping are extras if time allows.</a:t>
            </a:r>
          </a:p>
          <a:p>
            <a:r>
              <a:t>Next lecture series: randomisation tests use exactly this idea of how much a statistic varies between samples.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7223760" y="0"/>
            <a:ext cx="4967935" cy="68580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3" name="Label"/>
          <p:cNvSpPr txBox="1"/>
          <p:nvPr/>
        </p:nvSpPr>
        <p:spPr>
          <a:xfrm>
            <a:off x="731520" y="960120"/>
            <a:ext cx="6035040" cy="320040"/>
          </a:xfrm>
          <a:prstGeom prst="rect">
            <a:avLst/>
          </a:prstGeom>
          <a:noFill/>
          <a:ln/>
        </p:spPr>
        <p:txBody>
          <a:bodyPr wrap="square" lIns="0" tIns="0" rIns="0" bIns="0" rtlCol="0" anchor="t"/>
          <a:lstStyle/>
          <a:p>
            <a:pPr algn="l" indent="0" marL="0">
              <a:buNone/>
            </a:pPr>
            <a:r>
              <a:rPr lang="en-US" sz="1400" b="1" spc="300" kern="0" dirty="0">
                <a:solidFill>
                  <a:schemeClr val="accent2"/>
                </a:solidFill>
                <a:latin typeface="Avenir Next" pitchFamily="34" charset="0"/>
                <a:ea typeface="Avenir Next" pitchFamily="34" charset="-122"/>
                <a:cs typeface="Avenir Next" pitchFamily="34" charset="-120"/>
              </a:rPr>
              <a:t>BB852</a:t>
            </a:r>
            <a:endParaRPr lang="en-US" sz="1400" dirty="0"/>
          </a:p>
        </p:txBody>
      </p:sp>
      <p:sp>
        <p:nvSpPr>
          <p:cNvPr id="4" name="Label 2"/>
          <p:cNvSpPr txBox="1"/>
          <p:nvPr/>
        </p:nvSpPr>
        <p:spPr>
          <a:xfrm>
            <a:off x="731520" y="1325880"/>
            <a:ext cx="6035040" cy="640080"/>
          </a:xfrm>
          <a:prstGeom prst="rect">
            <a:avLst/>
          </a:prstGeom>
          <a:noFill/>
          <a:ln/>
        </p:spPr>
        <p:txBody>
          <a:bodyPr wrap="square" lIns="0" tIns="0" rIns="0" bIns="0" rtlCol="0" anchor="t"/>
          <a:lstStyle/>
          <a:p>
            <a:pPr algn="l" indent="0" marL="0">
              <a:buNone/>
            </a:pPr>
            <a:r>
              <a:rPr lang="en-US" sz="1400" b="1" spc="300" kern="0" dirty="0">
                <a:solidFill>
                  <a:srgbClr val="A2B4C9"/>
                </a:solidFill>
                <a:latin typeface="Avenir Next" pitchFamily="34" charset="0"/>
                <a:ea typeface="Avenir Next" pitchFamily="34" charset="-122"/>
                <a:cs typeface="Avenir Next" pitchFamily="34" charset="-120"/>
              </a:rPr>
              <a:t>DATA HANDLING, VISUALISATION AND STATISTICS</a:t>
            </a:r>
            <a:endParaRPr lang="en-US" sz="1400" dirty="0"/>
          </a:p>
        </p:txBody>
      </p:sp>
      <p:sp>
        <p:nvSpPr>
          <p:cNvPr id="5" name="Title Large"/>
          <p:cNvSpPr/>
          <p:nvPr>
            <p:ph idx="103" type="title" hasCustomPrompt="1"/>
          </p:nvPr>
        </p:nvSpPr>
        <p:spPr>
          <a:xfrm>
            <a:off x="731520" y="1920240"/>
            <a:ext cx="5943600" cy="2377440"/>
          </a:xfrm>
          <a:prstGeom prst="rect">
            <a:avLst/>
          </a:prstGeom>
          <a:noFill/>
          <a:ln/>
        </p:spPr>
        <p:txBody>
          <a:bodyPr wrap="square" rtlCol="0"/>
          <a:lstStyle>
            <a:lvl1pPr algn="l" indent="0" marL="0">
              <a:buNone/>
              <a:defRPr lang="en-US" sz="5200" b="1" dirty="0">
                <a:solidFill>
                  <a:schemeClr val="bg1"/>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bg1"/>
                </a:solidFill>
                <a:latin typeface="Avenir Next" pitchFamily="34" charset="0"/>
                <a:ea typeface="Avenir Next" pitchFamily="34" charset="-122"/>
                <a:cs typeface="Avenir Next" pitchFamily="34" charset="-120"/>
              </a:rPr>
              <a:t>Lecture title</a:t>
            </a:r>
            <a:endParaRPr lang="en-US" sz="5200" dirty="0"/>
          </a:p>
        </p:txBody>
      </p:sp>
      <p:sp>
        <p:nvSpPr>
          <p:cNvPr id="6" name="Subtitle"/>
          <p:cNvSpPr/>
          <p:nvPr>
            <p:ph idx="104" type="body" hasCustomPrompt="1"/>
          </p:nvPr>
        </p:nvSpPr>
        <p:spPr>
          <a:xfrm>
            <a:off x="731520" y="4526280"/>
            <a:ext cx="5943600" cy="868680"/>
          </a:xfrm>
          <a:prstGeom prst="rect">
            <a:avLst/>
          </a:prstGeom>
          <a:noFill/>
          <a:ln/>
        </p:spPr>
        <p:txBody>
          <a:bodyPr wrap="square" rtlCol="0"/>
          <a:lstStyle>
            <a:lvl1pPr algn="l" indent="0" marL="0">
              <a:buNone/>
              <a:defRPr lang="en-US" sz="2400" dirty="0">
                <a:solidFill>
                  <a:srgbClr val="DCE4EE"/>
                </a:solidFill>
                <a:latin typeface="Avenir Next" pitchFamily="34" charset="0"/>
                <a:ea typeface="Avenir Next" pitchFamily="34" charset="-122"/>
                <a:cs typeface="Avenir Next" pitchFamily="34" charset="-120"/>
              </a:defRPr>
            </a:lvl1pPr>
          </a:lstStyle>
          <a:p>
            <a:pPr algn="l" indent="0" marL="0">
              <a:buNone/>
            </a:pPr>
            <a:r>
              <a:rPr lang="en-US" sz="2400" dirty="0">
                <a:solidFill>
                  <a:srgbClr val="DCE4EE"/>
                </a:solidFill>
                <a:latin typeface="Avenir Next" pitchFamily="34" charset="0"/>
                <a:ea typeface="Avenir Next" pitchFamily="34" charset="-122"/>
                <a:cs typeface="Avenir Next" pitchFamily="34" charset="-120"/>
              </a:rPr>
              <a:t>Subtitle or guiding question</a:t>
            </a:r>
            <a:endParaRPr lang="en-US" sz="2400" dirty="0"/>
          </a:p>
        </p:txBody>
      </p:sp>
      <p:sp>
        <p:nvSpPr>
          <p:cNvPr id="7" name="Caption"/>
          <p:cNvSpPr txBox="1"/>
          <p:nvPr/>
        </p:nvSpPr>
        <p:spPr>
          <a:xfrm>
            <a:off x="731520" y="5897880"/>
            <a:ext cx="6035040" cy="411480"/>
          </a:xfrm>
          <a:prstGeom prst="rect">
            <a:avLst/>
          </a:prstGeom>
          <a:noFill/>
          <a:ln/>
        </p:spPr>
        <p:txBody>
          <a:bodyPr wrap="square" lIns="0" tIns="0" rIns="0" bIns="0" rtlCol="0" anchor="t"/>
          <a:lstStyle/>
          <a:p>
            <a:pPr algn="l" indent="0" marL="0">
              <a:buNone/>
            </a:pPr>
            <a:r>
              <a:rPr lang="en-US" sz="1400" dirty="0">
                <a:solidFill>
                  <a:srgbClr val="A2B4C9"/>
                </a:solidFill>
                <a:latin typeface="Avenir Next" pitchFamily="34" charset="0"/>
                <a:ea typeface="Avenir Next" pitchFamily="34" charset="-122"/>
                <a:cs typeface="Avenir Next" pitchFamily="34" charset="-120"/>
              </a:rPr>
              <a:t>Owen Jones · Population Biology Group, SDU</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6A86A6"/>
            </a:solidFill>
            <a:prstDash val="solid"/>
          </a:ln>
        </p:spPr>
      </p:sp>
      <p:sp>
        <p:nvSpPr>
          <p:cNvPr id="3" name="Label"/>
          <p:cNvSpPr txBox="1"/>
          <p:nvPr/>
        </p:nvSpPr>
        <p:spPr>
          <a:xfrm>
            <a:off x="731520" y="1325880"/>
            <a:ext cx="2743200" cy="320040"/>
          </a:xfrm>
          <a:prstGeom prst="rect">
            <a:avLst/>
          </a:prstGeom>
          <a:noFill/>
          <a:ln/>
        </p:spPr>
        <p:txBody>
          <a:bodyPr wrap="square" lIns="0" tIns="0" rIns="0" bIns="0" rtlCol="0" anchor="t"/>
          <a:lstStyle/>
          <a:p>
            <a:pPr algn="l" indent="0" marL="0">
              <a:buNone/>
            </a:pPr>
            <a:r>
              <a:rPr lang="en-US" sz="1400" b="1" spc="300" kern="0" dirty="0">
                <a:solidFill>
                  <a:srgbClr val="A2B4C9"/>
                </a:solidFill>
                <a:latin typeface="Avenir Next" pitchFamily="34" charset="0"/>
                <a:ea typeface="Avenir Next" pitchFamily="34" charset="-122"/>
                <a:cs typeface="Avenir Next" pitchFamily="34" charset="-120"/>
              </a:rPr>
              <a:t>SECTION</a:t>
            </a:r>
            <a:endParaRPr lang="en-US" sz="1400" dirty="0"/>
          </a:p>
        </p:txBody>
      </p:sp>
      <p:sp>
        <p:nvSpPr>
          <p:cNvPr id="4" name="Big Number"/>
          <p:cNvSpPr/>
          <p:nvPr>
            <p:ph idx="102" type="body" hasCustomPrompt="1"/>
          </p:nvPr>
        </p:nvSpPr>
        <p:spPr>
          <a:xfrm>
            <a:off x="731520" y="1645920"/>
            <a:ext cx="5486400" cy="2011680"/>
          </a:xfrm>
          <a:prstGeom prst="rect">
            <a:avLst/>
          </a:prstGeom>
          <a:noFill/>
          <a:ln/>
        </p:spPr>
        <p:txBody>
          <a:bodyPr wrap="square" rtlCol="0"/>
          <a:lstStyle>
            <a:lvl1pPr algn="l" indent="0" marL="0">
              <a:buNone/>
              <a:defRPr lang="en-US" sz="15000" b="1" dirty="0">
                <a:solidFill>
                  <a:schemeClr val="accent2"/>
                </a:solidFill>
                <a:latin typeface="Avenir Next" pitchFamily="34" charset="0"/>
                <a:ea typeface="Avenir Next" pitchFamily="34" charset="-122"/>
                <a:cs typeface="Avenir Next" pitchFamily="34" charset="-120"/>
              </a:defRPr>
            </a:lvl1pPr>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01</a:t>
            </a:r>
            <a:endParaRPr lang="en-US" sz="15000" dirty="0"/>
          </a:p>
        </p:txBody>
      </p:sp>
      <p:sp>
        <p:nvSpPr>
          <p:cNvPr id="5" name="Title Large"/>
          <p:cNvSpPr/>
          <p:nvPr>
            <p:ph idx="103" type="title" hasCustomPrompt="1"/>
          </p:nvPr>
        </p:nvSpPr>
        <p:spPr>
          <a:xfrm>
            <a:off x="731520" y="3886200"/>
            <a:ext cx="10058400" cy="1645920"/>
          </a:xfrm>
          <a:prstGeom prst="rect">
            <a:avLst/>
          </a:prstGeom>
          <a:noFill/>
          <a:ln/>
        </p:spPr>
        <p:txBody>
          <a:bodyPr wrap="square" rtlCol="0"/>
          <a:lstStyle>
            <a:lvl1pPr algn="l" indent="0" marL="0">
              <a:buNone/>
              <a:defRPr lang="en-US" sz="5200" b="1" dirty="0">
                <a:solidFill>
                  <a:schemeClr val="bg1"/>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bg1"/>
                </a:solidFill>
                <a:latin typeface="Avenir Next" pitchFamily="34" charset="0"/>
                <a:ea typeface="Avenir Next" pitchFamily="34" charset="-122"/>
                <a:cs typeface="Avenir Next" pitchFamily="34" charset="-120"/>
              </a:rPr>
              <a:t>Section title</a:t>
            </a:r>
            <a:endParaRPr lang="en-US" sz="52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rgbClr val="A2B4C9"/>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A2B4C9"/>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LEARNING OBJECTIVES</a:t>
            </a:r>
            <a:endParaRPr lang="en-US" sz="1400" dirty="0"/>
          </a:p>
        </p:txBody>
      </p:sp>
      <p:sp>
        <p:nvSpPr>
          <p:cNvPr id="3" name="Title"/>
          <p:cNvSpPr/>
          <p:nvPr>
            <p:ph idx="101" type="title" hasCustomPrompt="1"/>
          </p:nvPr>
        </p:nvSpPr>
        <p:spPr>
          <a:xfrm>
            <a:off x="731520" y="1417320"/>
            <a:ext cx="3566160" cy="42062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Session topic</a:t>
            </a:r>
            <a:endParaRPr lang="en-US" sz="4000" dirty="0"/>
          </a:p>
        </p:txBody>
      </p:sp>
      <p:sp>
        <p:nvSpPr>
          <p:cNvPr id="4" name="Shape 1"/>
          <p:cNvSpPr/>
          <p:nvPr/>
        </p:nvSpPr>
        <p:spPr>
          <a:xfrm>
            <a:off x="4617720" y="1463040"/>
            <a:ext cx="0" cy="4480560"/>
          </a:xfrm>
          <a:prstGeom prst="line">
            <a:avLst/>
          </a:prstGeom>
          <a:noFill/>
          <a:ln w="12700">
            <a:solidFill>
              <a:srgbClr val="BCC6D2"/>
            </a:solidFill>
            <a:prstDash val="solid"/>
          </a:ln>
        </p:spPr>
      </p:sp>
      <p:sp>
        <p:nvSpPr>
          <p:cNvPr id="5" name="Body"/>
          <p:cNvSpPr/>
          <p:nvPr>
            <p:ph idx="103" type="body" hasCustomPrompt="1"/>
          </p:nvPr>
        </p:nvSpPr>
        <p:spPr>
          <a:xfrm>
            <a:off x="5029200" y="1463040"/>
            <a:ext cx="6430975" cy="448056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Objective one</a:t>
            </a:r>
            <a:endParaRPr lang="en-US" sz="2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Bullet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Body"/>
          <p:cNvSpPr/>
          <p:nvPr>
            <p:ph idx="101" type="body" hasCustomPrompt="1"/>
          </p:nvPr>
        </p:nvSpPr>
        <p:spPr>
          <a:xfrm>
            <a:off x="731520" y="2103120"/>
            <a:ext cx="9509760" cy="393192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4"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Photo">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10728655" cy="361188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Caption"/>
          <p:cNvSpPr/>
          <p:nvPr>
            <p:ph idx="102" type="body" hasCustomPrompt="1"/>
          </p:nvPr>
        </p:nvSpPr>
        <p:spPr>
          <a:xfrm>
            <a:off x="731520" y="5715000"/>
            <a:ext cx="10728655"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Fig. Source or caption</a:t>
            </a:r>
            <a:endParaRPr lang="en-US" sz="1400" dirty="0"/>
          </a:p>
        </p:txBody>
      </p:sp>
      <p:sp>
        <p:nvSpPr>
          <p:cNvPr id="5" name="Caption 2"/>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Bullets &amp; Photo">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6766560" cy="38862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Shape 0"/>
          <p:cNvSpPr/>
          <p:nvPr/>
        </p:nvSpPr>
        <p:spPr>
          <a:xfrm>
            <a:off x="7909560" y="2011680"/>
            <a:ext cx="3550615" cy="3886200"/>
          </a:xfrm>
          <a:prstGeom prst="rect">
            <a:avLst/>
          </a:prstGeom>
          <a:ln w="12700">
            <a:solidFill>
              <a:schemeClr val="tx2"/>
            </a:solidFill>
            <a:prstDash val="solid"/>
          </a:ln>
        </p:spPr>
      </p:sp>
      <p:sp>
        <p:nvSpPr>
          <p:cNvPr id="5" name="Label"/>
          <p:cNvSpPr/>
          <p:nvPr>
            <p:ph idx="103" type="body" hasCustomPrompt="1"/>
          </p:nvPr>
        </p:nvSpPr>
        <p:spPr>
          <a:xfrm>
            <a:off x="8183880" y="2157984"/>
            <a:ext cx="3001975"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TAKEAWAY</a:t>
            </a:r>
            <a:endParaRPr lang="en-US" sz="1400" dirty="0"/>
          </a:p>
        </p:txBody>
      </p:sp>
      <p:sp>
        <p:nvSpPr>
          <p:cNvPr id="6" name="Shape 1"/>
          <p:cNvSpPr/>
          <p:nvPr/>
        </p:nvSpPr>
        <p:spPr>
          <a:xfrm>
            <a:off x="8183880" y="2633472"/>
            <a:ext cx="3001975" cy="0"/>
          </a:xfrm>
          <a:prstGeom prst="line">
            <a:avLst/>
          </a:prstGeom>
          <a:noFill/>
          <a:ln w="12700">
            <a:solidFill>
              <a:srgbClr val="BCC6D2"/>
            </a:solidFill>
            <a:prstDash val="solid"/>
          </a:ln>
        </p:spPr>
      </p:sp>
      <p:sp>
        <p:nvSpPr>
          <p:cNvPr id="7" name="Body"/>
          <p:cNvSpPr/>
          <p:nvPr>
            <p:ph idx="105" type="body" hasCustomPrompt="1"/>
          </p:nvPr>
        </p:nvSpPr>
        <p:spPr>
          <a:xfrm>
            <a:off x="8183880" y="2834640"/>
            <a:ext cx="3001975" cy="288036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One or two sentences on what the figure shows</a:t>
            </a:r>
            <a:endParaRPr lang="en-US" sz="2400" dirty="0"/>
          </a:p>
        </p:txBody>
      </p:sp>
      <p:sp>
        <p:nvSpPr>
          <p:cNvPr id="8"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igure &amp; Bullet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5090008" cy="38862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Body"/>
          <p:cNvSpPr/>
          <p:nvPr>
            <p:ph idx="102" type="body" hasCustomPrompt="1"/>
          </p:nvPr>
        </p:nvSpPr>
        <p:spPr>
          <a:xfrm>
            <a:off x="6370168" y="2011680"/>
            <a:ext cx="5090008" cy="388620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First point</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Key Concep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BCC6D2"/>
            </a:solidFill>
            <a:prstDash val="solid"/>
          </a:ln>
        </p:spPr>
      </p:sp>
      <p:sp>
        <p:nvSpPr>
          <p:cNvPr id="3"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KEY CONCEPT</a:t>
            </a:r>
            <a:endParaRPr lang="en-US" sz="1400" dirty="0"/>
          </a:p>
        </p:txBody>
      </p:sp>
      <p:sp>
        <p:nvSpPr>
          <p:cNvPr id="4" name="Title Large"/>
          <p:cNvSpPr/>
          <p:nvPr>
            <p:ph idx="102" type="title" hasCustomPrompt="1"/>
          </p:nvPr>
        </p:nvSpPr>
        <p:spPr>
          <a:xfrm>
            <a:off x="731520" y="1417320"/>
            <a:ext cx="10728655" cy="1280160"/>
          </a:xfrm>
          <a:prstGeom prst="rect">
            <a:avLst/>
          </a:prstGeom>
          <a:noFill/>
          <a:ln/>
        </p:spPr>
        <p:txBody>
          <a:bodyPr wrap="square" rtlCol="0"/>
          <a:lstStyle>
            <a:lvl1pPr algn="l" indent="0" marL="0">
              <a:buNone/>
              <a:defRPr lang="en-US" sz="52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tx2"/>
                </a:solidFill>
                <a:latin typeface="Avenir Next" pitchFamily="34" charset="0"/>
                <a:ea typeface="Avenir Next" pitchFamily="34" charset="-122"/>
                <a:cs typeface="Avenir Next" pitchFamily="34" charset="-120"/>
              </a:rPr>
              <a:t>Term</a:t>
            </a:r>
            <a:endParaRPr lang="en-US" sz="5200" dirty="0"/>
          </a:p>
        </p:txBody>
      </p:sp>
      <p:sp>
        <p:nvSpPr>
          <p:cNvPr id="5" name="Subtitle"/>
          <p:cNvSpPr/>
          <p:nvPr>
            <p:ph idx="103" type="body" hasCustomPrompt="1"/>
          </p:nvPr>
        </p:nvSpPr>
        <p:spPr>
          <a:xfrm>
            <a:off x="731520" y="2880360"/>
            <a:ext cx="9601200" cy="1554480"/>
          </a:xfrm>
          <a:prstGeom prst="rect">
            <a:avLst/>
          </a:prstGeom>
          <a:noFill/>
          <a:ln/>
        </p:spPr>
        <p:txBody>
          <a:bodyPr wrap="square" rtlCol="0"/>
          <a:lstStyle>
            <a:lvl1pPr algn="l" indent="0" marL="0">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2400" dirty="0">
                <a:solidFill>
                  <a:schemeClr val="tx1"/>
                </a:solidFill>
                <a:latin typeface="Avenir Next" pitchFamily="34" charset="0"/>
                <a:ea typeface="Avenir Next" pitchFamily="34" charset="-122"/>
                <a:cs typeface="Avenir Next" pitchFamily="34" charset="-120"/>
              </a:rPr>
              <a:t>Definition in one or two plain sentences</a:t>
            </a:r>
            <a:endParaRPr lang="en-US" sz="2400" dirty="0"/>
          </a:p>
        </p:txBody>
      </p:sp>
      <p:sp>
        <p:nvSpPr>
          <p:cNvPr id="6" name="Shape 2"/>
          <p:cNvSpPr/>
          <p:nvPr/>
        </p:nvSpPr>
        <p:spPr>
          <a:xfrm>
            <a:off x="731520" y="4663440"/>
            <a:ext cx="1828800" cy="0"/>
          </a:xfrm>
          <a:prstGeom prst="line">
            <a:avLst/>
          </a:prstGeom>
          <a:noFill/>
          <a:ln w="12700">
            <a:solidFill>
              <a:schemeClr val="accent2"/>
            </a:solidFill>
            <a:prstDash val="solid"/>
          </a:ln>
        </p:spPr>
      </p:sp>
      <p:sp>
        <p:nvSpPr>
          <p:cNvPr id="7" name="Body Small"/>
          <p:cNvSpPr/>
          <p:nvPr>
            <p:ph idx="105" type="body" hasCustomPrompt="1"/>
          </p:nvPr>
        </p:nvSpPr>
        <p:spPr>
          <a:xfrm>
            <a:off x="731520" y="4846320"/>
            <a:ext cx="9601200" cy="1097280"/>
          </a:xfrm>
          <a:prstGeom prst="rect">
            <a:avLst/>
          </a:prstGeom>
          <a:noFill/>
          <a:ln/>
        </p:spPr>
        <p:txBody>
          <a:bodyPr wrap="square" rtlCol="0"/>
          <a:lstStyle>
            <a:lvl1pPr algn="l" indent="0" marL="0">
              <a:spcAft>
                <a:spcPts val="1000"/>
              </a:spcAft>
              <a:buNone/>
              <a:defRPr lang="en-US" sz="2000" dirty="0">
                <a:solidFill>
                  <a:schemeClr val="accent6"/>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accent6"/>
                </a:solidFill>
                <a:latin typeface="Avenir Next" pitchFamily="34" charset="0"/>
                <a:ea typeface="Avenir Next" pitchFamily="34" charset="-122"/>
                <a:cs typeface="Avenir Next" pitchFamily="34" charset="-120"/>
              </a:rPr>
              <a:t>Example, equation or common misconception</a:t>
            </a:r>
            <a:endParaRPr lang="en-US" sz="2000" dirty="0"/>
          </a:p>
        </p:txBody>
      </p:sp>
      <p:sp>
        <p:nvSpPr>
          <p:cNvPr id="8"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lumn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Label"/>
          <p:cNvSpPr/>
          <p:nvPr>
            <p:ph idx="101" type="body" hasCustomPrompt="1"/>
          </p:nvPr>
        </p:nvSpPr>
        <p:spPr>
          <a:xfrm>
            <a:off x="731520" y="2103120"/>
            <a:ext cx="4998568"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LEFT HEADING</a:t>
            </a:r>
            <a:endParaRPr lang="en-US" sz="1400" dirty="0"/>
          </a:p>
        </p:txBody>
      </p:sp>
      <p:sp>
        <p:nvSpPr>
          <p:cNvPr id="4" name="Shape 0"/>
          <p:cNvSpPr/>
          <p:nvPr/>
        </p:nvSpPr>
        <p:spPr>
          <a:xfrm>
            <a:off x="731520" y="2560320"/>
            <a:ext cx="4998568" cy="0"/>
          </a:xfrm>
          <a:prstGeom prst="line">
            <a:avLst/>
          </a:prstGeom>
          <a:noFill/>
          <a:ln w="12700">
            <a:solidFill>
              <a:srgbClr val="BCC6D2"/>
            </a:solidFill>
            <a:prstDash val="solid"/>
          </a:ln>
        </p:spPr>
      </p:sp>
      <p:sp>
        <p:nvSpPr>
          <p:cNvPr id="5" name="Body"/>
          <p:cNvSpPr/>
          <p:nvPr>
            <p:ph idx="103" type="body" hasCustomPrompt="1"/>
          </p:nvPr>
        </p:nvSpPr>
        <p:spPr>
          <a:xfrm>
            <a:off x="731520" y="2743200"/>
            <a:ext cx="4998568" cy="32918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6" name="Label 2"/>
          <p:cNvSpPr/>
          <p:nvPr>
            <p:ph idx="104" type="body" hasCustomPrompt="1"/>
          </p:nvPr>
        </p:nvSpPr>
        <p:spPr>
          <a:xfrm>
            <a:off x="6461608" y="2103120"/>
            <a:ext cx="4998568"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RIGHT HEADING</a:t>
            </a:r>
            <a:endParaRPr lang="en-US" sz="1400" dirty="0"/>
          </a:p>
        </p:txBody>
      </p:sp>
      <p:sp>
        <p:nvSpPr>
          <p:cNvPr id="7" name="Shape 1"/>
          <p:cNvSpPr/>
          <p:nvPr/>
        </p:nvSpPr>
        <p:spPr>
          <a:xfrm>
            <a:off x="6461608" y="2560320"/>
            <a:ext cx="4998568" cy="0"/>
          </a:xfrm>
          <a:prstGeom prst="line">
            <a:avLst/>
          </a:prstGeom>
          <a:noFill/>
          <a:ln w="12700">
            <a:solidFill>
              <a:srgbClr val="BCC6D2"/>
            </a:solidFill>
            <a:prstDash val="solid"/>
          </a:ln>
        </p:spPr>
      </p:sp>
      <p:sp>
        <p:nvSpPr>
          <p:cNvPr id="8" name="Body 2"/>
          <p:cNvSpPr/>
          <p:nvPr>
            <p:ph idx="106" type="body" hasCustomPrompt="1"/>
          </p:nvPr>
        </p:nvSpPr>
        <p:spPr>
          <a:xfrm>
            <a:off x="6461608" y="2743200"/>
            <a:ext cx="4998568" cy="32918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9"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accent2"/>
        </a:solidFill>
      </p:bgPr>
    </p:bg>
    <p:spTree>
      <p:nvGrpSpPr>
        <p:cNvPr id="1" name=""/>
        <p:cNvGrpSpPr/>
        <p:nvPr/>
      </p:nvGrpSpPr>
      <p:grpSpPr>
        <a:xfrm>
          <a:off x="0" y="0"/>
          <a:ext cx="0" cy="0"/>
          <a:chOff x="0" y="0"/>
          <a:chExt cx="0" cy="0"/>
        </a:xfrm>
      </p:grpSpPr>
      <p:sp>
        <p:nvSpPr>
          <p:cNvPr id="2" name="Label"/>
          <p:cNvSpPr txBox="1"/>
          <p:nvPr/>
        </p:nvSpPr>
        <p:spPr>
          <a:xfrm>
            <a:off x="731520" y="731520"/>
            <a:ext cx="1828800" cy="320040"/>
          </a:xfrm>
          <a:prstGeom prst="rect">
            <a:avLst/>
          </a:prstGeom>
          <a:noFill/>
          <a:ln/>
        </p:spPr>
        <p:txBody>
          <a:bodyPr wrap="square" lIns="0" tIns="0" rIns="0" bIns="0" rtlCol="0" anchor="t"/>
          <a:lstStyle/>
          <a:p>
            <a:pPr algn="l" indent="0" marL="0">
              <a:buNone/>
            </a:pPr>
            <a:r>
              <a:rPr lang="en-US" sz="1400" b="1" spc="300" kern="0" dirty="0">
                <a:solidFill>
                  <a:schemeClr val="tx1"/>
                </a:solidFill>
                <a:latin typeface="Avenir Next" pitchFamily="34" charset="0"/>
                <a:ea typeface="Avenir Next" pitchFamily="34" charset="-122"/>
                <a:cs typeface="Avenir Next" pitchFamily="34" charset="-120"/>
              </a:rPr>
              <a:t>YOUR TURN</a:t>
            </a:r>
            <a:endParaRPr lang="en-US" sz="1400" dirty="0"/>
          </a:p>
        </p:txBody>
      </p:sp>
      <p:sp>
        <p:nvSpPr>
          <p:cNvPr id="3" name="Label 2"/>
          <p:cNvSpPr/>
          <p:nvPr>
            <p:ph idx="101" type="body" hasCustomPrompt="1"/>
          </p:nvPr>
        </p:nvSpPr>
        <p:spPr>
          <a:xfrm>
            <a:off x="2651760" y="731520"/>
            <a:ext cx="5486400" cy="320040"/>
          </a:xfrm>
          <a:prstGeom prst="rect">
            <a:avLst/>
          </a:prstGeom>
          <a:noFill/>
          <a:ln/>
        </p:spPr>
        <p:txBody>
          <a:bodyPr wrap="square" rtlCol="0"/>
          <a:lstStyle>
            <a:lvl1pPr algn="l" indent="0" marL="0">
              <a:buNone/>
              <a:defRPr lang="en-US" sz="1400" b="1" spc="300" kern="0" dirty="0">
                <a:solidFill>
                  <a:srgbClr val="45180D"/>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rgbClr val="45180D"/>
                </a:solidFill>
                <a:latin typeface="Avenir Next" pitchFamily="34" charset="0"/>
                <a:ea typeface="Avenir Next" pitchFamily="34" charset="-122"/>
                <a:cs typeface="Avenir Next" pitchFamily="34" charset="-120"/>
              </a:rPr>
              <a:t>TIME · FORMAT</a:t>
            </a:r>
            <a:endParaRPr lang="en-US" sz="1400" dirty="0"/>
          </a:p>
        </p:txBody>
      </p:sp>
      <p:sp>
        <p:nvSpPr>
          <p:cNvPr id="4" name="Title"/>
          <p:cNvSpPr/>
          <p:nvPr>
            <p:ph idx="102" type="title" hasCustomPrompt="1"/>
          </p:nvPr>
        </p:nvSpPr>
        <p:spPr>
          <a:xfrm>
            <a:off x="731520" y="1417320"/>
            <a:ext cx="10728655" cy="1645920"/>
          </a:xfrm>
          <a:prstGeom prst="rect">
            <a:avLst/>
          </a:prstGeom>
          <a:noFill/>
          <a:ln/>
        </p:spPr>
        <p:txBody>
          <a:bodyPr wrap="square" rtlCol="0"/>
          <a:lstStyle>
            <a:lvl1pPr algn="l" indent="0" marL="0">
              <a:buNone/>
              <a:defRPr lang="en-US" sz="4000" b="1"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1"/>
                </a:solidFill>
                <a:latin typeface="Avenir Next" pitchFamily="34" charset="0"/>
                <a:ea typeface="Avenir Next" pitchFamily="34" charset="-122"/>
                <a:cs typeface="Avenir Next" pitchFamily="34" charset="-120"/>
              </a:rPr>
              <a:t>The task, as a question</a:t>
            </a:r>
            <a:endParaRPr lang="en-US" sz="4000" dirty="0"/>
          </a:p>
        </p:txBody>
      </p:sp>
      <p:sp>
        <p:nvSpPr>
          <p:cNvPr id="5" name="Body"/>
          <p:cNvSpPr/>
          <p:nvPr>
            <p:ph idx="103" type="body" hasCustomPrompt="1"/>
          </p:nvPr>
        </p:nvSpPr>
        <p:spPr>
          <a:xfrm>
            <a:off x="731520" y="3291840"/>
            <a:ext cx="10058400" cy="274320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Steps or prompts</a:t>
            </a:r>
            <a:endParaRPr lang="en-US" sz="2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rgbClr val="45180D"/>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45180D"/>
                </a:solidFill>
                <a:latin typeface="Avenir Next"/>
                <a:ea typeface="Avenir Next"/>
                <a:cs typeface="Avenir Next"/>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heck Question (4 options)">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CHECK YOUR UNDERSTANDING</a:t>
            </a:r>
            <a:endParaRPr lang="en-US" sz="1400" dirty="0"/>
          </a:p>
        </p:txBody>
      </p:sp>
      <p:sp>
        <p:nvSpPr>
          <p:cNvPr id="3" name="Title"/>
          <p:cNvSpPr/>
          <p:nvPr>
            <p:ph idx="101" type="title" hasCustomPrompt="1"/>
          </p:nvPr>
        </p:nvSpPr>
        <p:spPr>
          <a:xfrm>
            <a:off x="731520" y="1234440"/>
            <a:ext cx="10728655" cy="12344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Question</a:t>
            </a:r>
            <a:endParaRPr lang="en-US" sz="4000" dirty="0"/>
          </a:p>
        </p:txBody>
      </p:sp>
      <p:sp>
        <p:nvSpPr>
          <p:cNvPr id="4" name="Shape 1"/>
          <p:cNvSpPr/>
          <p:nvPr/>
        </p:nvSpPr>
        <p:spPr>
          <a:xfrm>
            <a:off x="731520" y="2606040"/>
            <a:ext cx="5181448" cy="1508760"/>
          </a:xfrm>
          <a:prstGeom prst="rect">
            <a:avLst/>
          </a:prstGeom>
          <a:ln w="12700">
            <a:solidFill>
              <a:srgbClr val="BCC6D2"/>
            </a:solidFill>
            <a:prstDash val="solid"/>
          </a:ln>
        </p:spPr>
      </p:sp>
      <p:sp>
        <p:nvSpPr>
          <p:cNvPr id="5" name="Shape 2"/>
          <p:cNvSpPr/>
          <p:nvPr/>
        </p:nvSpPr>
        <p:spPr>
          <a:xfrm>
            <a:off x="1005840" y="3081528"/>
            <a:ext cx="566928" cy="566928"/>
          </a:xfrm>
          <a:prstGeom prst="rect">
            <a:avLst/>
          </a:prstGeom>
          <a:solidFill>
            <a:schemeClr val="accent3"/>
          </a:solidFill>
          <a:ln w="12700">
            <a:solidFill>
              <a:schemeClr val="accent3"/>
            </a:solidFill>
            <a:prstDash val="solid"/>
          </a:ln>
        </p:spPr>
      </p:sp>
      <p:sp>
        <p:nvSpPr>
          <p:cNvPr id="6" name="Label 2"/>
          <p:cNvSpPr txBox="1"/>
          <p:nvPr/>
        </p:nvSpPr>
        <p:spPr>
          <a:xfrm>
            <a:off x="1005840" y="320954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A</a:t>
            </a:r>
            <a:endParaRPr lang="en-US" sz="1400" dirty="0"/>
          </a:p>
        </p:txBody>
      </p:sp>
      <p:sp>
        <p:nvSpPr>
          <p:cNvPr id="7" name="Body Small"/>
          <p:cNvSpPr/>
          <p:nvPr>
            <p:ph idx="105" type="body" hasCustomPrompt="1"/>
          </p:nvPr>
        </p:nvSpPr>
        <p:spPr>
          <a:xfrm>
            <a:off x="1828800" y="278892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A</a:t>
            </a:r>
            <a:endParaRPr lang="en-US" sz="2000" dirty="0"/>
          </a:p>
        </p:txBody>
      </p:sp>
      <p:sp>
        <p:nvSpPr>
          <p:cNvPr id="8" name="Shape 4"/>
          <p:cNvSpPr/>
          <p:nvPr/>
        </p:nvSpPr>
        <p:spPr>
          <a:xfrm>
            <a:off x="6278728" y="2606040"/>
            <a:ext cx="5181448" cy="1508760"/>
          </a:xfrm>
          <a:prstGeom prst="rect">
            <a:avLst/>
          </a:prstGeom>
          <a:ln w="12700">
            <a:solidFill>
              <a:srgbClr val="BCC6D2"/>
            </a:solidFill>
            <a:prstDash val="solid"/>
          </a:ln>
        </p:spPr>
      </p:sp>
      <p:sp>
        <p:nvSpPr>
          <p:cNvPr id="9" name="Shape 5"/>
          <p:cNvSpPr/>
          <p:nvPr/>
        </p:nvSpPr>
        <p:spPr>
          <a:xfrm>
            <a:off x="6553048" y="3081528"/>
            <a:ext cx="566928" cy="566928"/>
          </a:xfrm>
          <a:prstGeom prst="rect">
            <a:avLst/>
          </a:prstGeom>
          <a:solidFill>
            <a:schemeClr val="accent3"/>
          </a:solidFill>
          <a:ln w="12700">
            <a:solidFill>
              <a:schemeClr val="accent3"/>
            </a:solidFill>
            <a:prstDash val="solid"/>
          </a:ln>
        </p:spPr>
      </p:sp>
      <p:sp>
        <p:nvSpPr>
          <p:cNvPr id="10" name="Label 3"/>
          <p:cNvSpPr txBox="1"/>
          <p:nvPr/>
        </p:nvSpPr>
        <p:spPr>
          <a:xfrm>
            <a:off x="6553048" y="320954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B</a:t>
            </a:r>
            <a:endParaRPr lang="en-US" sz="1400" dirty="0"/>
          </a:p>
        </p:txBody>
      </p:sp>
      <p:sp>
        <p:nvSpPr>
          <p:cNvPr id="11" name="Body Small 2"/>
          <p:cNvSpPr/>
          <p:nvPr>
            <p:ph idx="109" type="body" hasCustomPrompt="1"/>
          </p:nvPr>
        </p:nvSpPr>
        <p:spPr>
          <a:xfrm>
            <a:off x="7376008" y="278892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B</a:t>
            </a:r>
            <a:endParaRPr lang="en-US" sz="2000" dirty="0"/>
          </a:p>
        </p:txBody>
      </p:sp>
      <p:sp>
        <p:nvSpPr>
          <p:cNvPr id="12" name="Shape 7"/>
          <p:cNvSpPr/>
          <p:nvPr/>
        </p:nvSpPr>
        <p:spPr>
          <a:xfrm>
            <a:off x="731520" y="4343400"/>
            <a:ext cx="5181448" cy="1508760"/>
          </a:xfrm>
          <a:prstGeom prst="rect">
            <a:avLst/>
          </a:prstGeom>
          <a:ln w="12700">
            <a:solidFill>
              <a:srgbClr val="BCC6D2"/>
            </a:solidFill>
            <a:prstDash val="solid"/>
          </a:ln>
        </p:spPr>
      </p:sp>
      <p:sp>
        <p:nvSpPr>
          <p:cNvPr id="13" name="Shape 8"/>
          <p:cNvSpPr/>
          <p:nvPr/>
        </p:nvSpPr>
        <p:spPr>
          <a:xfrm>
            <a:off x="1005840" y="4818888"/>
            <a:ext cx="566928" cy="566928"/>
          </a:xfrm>
          <a:prstGeom prst="rect">
            <a:avLst/>
          </a:prstGeom>
          <a:solidFill>
            <a:schemeClr val="accent3"/>
          </a:solidFill>
          <a:ln w="12700">
            <a:solidFill>
              <a:schemeClr val="accent3"/>
            </a:solidFill>
            <a:prstDash val="solid"/>
          </a:ln>
        </p:spPr>
      </p:sp>
      <p:sp>
        <p:nvSpPr>
          <p:cNvPr id="14" name="Label 4"/>
          <p:cNvSpPr txBox="1"/>
          <p:nvPr/>
        </p:nvSpPr>
        <p:spPr>
          <a:xfrm>
            <a:off x="1005840" y="494690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C</a:t>
            </a:r>
            <a:endParaRPr lang="en-US" sz="1400" dirty="0"/>
          </a:p>
        </p:txBody>
      </p:sp>
      <p:sp>
        <p:nvSpPr>
          <p:cNvPr id="15" name="Body Small 3"/>
          <p:cNvSpPr/>
          <p:nvPr>
            <p:ph idx="113" type="body" hasCustomPrompt="1"/>
          </p:nvPr>
        </p:nvSpPr>
        <p:spPr>
          <a:xfrm>
            <a:off x="1828800" y="452628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C</a:t>
            </a:r>
            <a:endParaRPr lang="en-US" sz="2000" dirty="0"/>
          </a:p>
        </p:txBody>
      </p:sp>
      <p:sp>
        <p:nvSpPr>
          <p:cNvPr id="16" name="Shape 10"/>
          <p:cNvSpPr/>
          <p:nvPr/>
        </p:nvSpPr>
        <p:spPr>
          <a:xfrm>
            <a:off x="6278728" y="4343400"/>
            <a:ext cx="5181448" cy="1508760"/>
          </a:xfrm>
          <a:prstGeom prst="rect">
            <a:avLst/>
          </a:prstGeom>
          <a:ln w="12700">
            <a:solidFill>
              <a:srgbClr val="BCC6D2"/>
            </a:solidFill>
            <a:prstDash val="solid"/>
          </a:ln>
        </p:spPr>
      </p:sp>
      <p:sp>
        <p:nvSpPr>
          <p:cNvPr id="17" name="Shape 11"/>
          <p:cNvSpPr/>
          <p:nvPr/>
        </p:nvSpPr>
        <p:spPr>
          <a:xfrm>
            <a:off x="6553048" y="4818888"/>
            <a:ext cx="566928" cy="566928"/>
          </a:xfrm>
          <a:prstGeom prst="rect">
            <a:avLst/>
          </a:prstGeom>
          <a:solidFill>
            <a:schemeClr val="accent3"/>
          </a:solidFill>
          <a:ln w="12700">
            <a:solidFill>
              <a:schemeClr val="accent3"/>
            </a:solidFill>
            <a:prstDash val="solid"/>
          </a:ln>
        </p:spPr>
      </p:sp>
      <p:sp>
        <p:nvSpPr>
          <p:cNvPr id="18" name="Label 5"/>
          <p:cNvSpPr txBox="1"/>
          <p:nvPr/>
        </p:nvSpPr>
        <p:spPr>
          <a:xfrm>
            <a:off x="6553048" y="494690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D</a:t>
            </a:r>
            <a:endParaRPr lang="en-US" sz="1400" dirty="0"/>
          </a:p>
        </p:txBody>
      </p:sp>
      <p:sp>
        <p:nvSpPr>
          <p:cNvPr id="19" name="Body Small 4"/>
          <p:cNvSpPr/>
          <p:nvPr>
            <p:ph idx="117" type="body" hasCustomPrompt="1"/>
          </p:nvPr>
        </p:nvSpPr>
        <p:spPr>
          <a:xfrm>
            <a:off x="7376008" y="452628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D</a:t>
            </a:r>
            <a:endParaRPr lang="en-US" sz="2000" dirty="0"/>
          </a:p>
        </p:txBody>
      </p:sp>
      <p:sp>
        <p:nvSpPr>
          <p:cNvPr id="20"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heck Question (2 options)">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CHECK YOUR UNDERSTANDING</a:t>
            </a:r>
            <a:endParaRPr lang="en-US" sz="1400" dirty="0"/>
          </a:p>
        </p:txBody>
      </p:sp>
      <p:sp>
        <p:nvSpPr>
          <p:cNvPr id="3" name="Title"/>
          <p:cNvSpPr/>
          <p:nvPr>
            <p:ph idx="101" type="title" hasCustomPrompt="1"/>
          </p:nvPr>
        </p:nvSpPr>
        <p:spPr>
          <a:xfrm>
            <a:off x="731520" y="1234440"/>
            <a:ext cx="10728655" cy="12344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Question</a:t>
            </a:r>
            <a:endParaRPr lang="en-US" sz="4000" dirty="0"/>
          </a:p>
        </p:txBody>
      </p:sp>
      <p:sp>
        <p:nvSpPr>
          <p:cNvPr id="4" name="Shape 1"/>
          <p:cNvSpPr/>
          <p:nvPr/>
        </p:nvSpPr>
        <p:spPr>
          <a:xfrm>
            <a:off x="731520" y="2606040"/>
            <a:ext cx="5181448" cy="3383280"/>
          </a:xfrm>
          <a:prstGeom prst="rect">
            <a:avLst/>
          </a:prstGeom>
          <a:ln w="12700">
            <a:solidFill>
              <a:srgbClr val="BCC6D2"/>
            </a:solidFill>
            <a:prstDash val="solid"/>
          </a:ln>
        </p:spPr>
      </p:sp>
      <p:sp>
        <p:nvSpPr>
          <p:cNvPr id="5" name="Shape 2"/>
          <p:cNvSpPr/>
          <p:nvPr/>
        </p:nvSpPr>
        <p:spPr>
          <a:xfrm>
            <a:off x="1051560" y="2926080"/>
            <a:ext cx="566928" cy="566928"/>
          </a:xfrm>
          <a:prstGeom prst="rect">
            <a:avLst/>
          </a:prstGeom>
          <a:solidFill>
            <a:schemeClr val="accent3"/>
          </a:solidFill>
          <a:ln w="12700">
            <a:solidFill>
              <a:schemeClr val="accent3"/>
            </a:solidFill>
            <a:prstDash val="solid"/>
          </a:ln>
        </p:spPr>
      </p:sp>
      <p:sp>
        <p:nvSpPr>
          <p:cNvPr id="6" name="Label 2"/>
          <p:cNvSpPr txBox="1"/>
          <p:nvPr/>
        </p:nvSpPr>
        <p:spPr>
          <a:xfrm>
            <a:off x="1051560" y="3054096"/>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A</a:t>
            </a:r>
            <a:endParaRPr lang="en-US" sz="1400" dirty="0"/>
          </a:p>
        </p:txBody>
      </p:sp>
      <p:sp>
        <p:nvSpPr>
          <p:cNvPr id="7" name="Body"/>
          <p:cNvSpPr/>
          <p:nvPr>
            <p:ph idx="105" type="body" hasCustomPrompt="1"/>
          </p:nvPr>
        </p:nvSpPr>
        <p:spPr>
          <a:xfrm>
            <a:off x="1051560" y="3794760"/>
            <a:ext cx="4541368" cy="19202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Option A</a:t>
            </a:r>
            <a:endParaRPr lang="en-US" sz="2400" dirty="0"/>
          </a:p>
        </p:txBody>
      </p:sp>
      <p:sp>
        <p:nvSpPr>
          <p:cNvPr id="8" name="Shape 4"/>
          <p:cNvSpPr/>
          <p:nvPr/>
        </p:nvSpPr>
        <p:spPr>
          <a:xfrm>
            <a:off x="6278728" y="2606040"/>
            <a:ext cx="5181448" cy="3383280"/>
          </a:xfrm>
          <a:prstGeom prst="rect">
            <a:avLst/>
          </a:prstGeom>
          <a:ln w="12700">
            <a:solidFill>
              <a:srgbClr val="BCC6D2"/>
            </a:solidFill>
            <a:prstDash val="solid"/>
          </a:ln>
        </p:spPr>
      </p:sp>
      <p:sp>
        <p:nvSpPr>
          <p:cNvPr id="9" name="Shape 5"/>
          <p:cNvSpPr/>
          <p:nvPr/>
        </p:nvSpPr>
        <p:spPr>
          <a:xfrm>
            <a:off x="6598768" y="2926080"/>
            <a:ext cx="566928" cy="566928"/>
          </a:xfrm>
          <a:prstGeom prst="rect">
            <a:avLst/>
          </a:prstGeom>
          <a:solidFill>
            <a:schemeClr val="accent3"/>
          </a:solidFill>
          <a:ln w="12700">
            <a:solidFill>
              <a:schemeClr val="accent3"/>
            </a:solidFill>
            <a:prstDash val="solid"/>
          </a:ln>
        </p:spPr>
      </p:sp>
      <p:sp>
        <p:nvSpPr>
          <p:cNvPr id="10" name="Label 3"/>
          <p:cNvSpPr txBox="1"/>
          <p:nvPr/>
        </p:nvSpPr>
        <p:spPr>
          <a:xfrm>
            <a:off x="6598768" y="3054096"/>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B</a:t>
            </a:r>
            <a:endParaRPr lang="en-US" sz="1400" dirty="0"/>
          </a:p>
        </p:txBody>
      </p:sp>
      <p:sp>
        <p:nvSpPr>
          <p:cNvPr id="11" name="Body 2"/>
          <p:cNvSpPr/>
          <p:nvPr>
            <p:ph idx="109" type="body" hasCustomPrompt="1"/>
          </p:nvPr>
        </p:nvSpPr>
        <p:spPr>
          <a:xfrm>
            <a:off x="6598768" y="3794760"/>
            <a:ext cx="4541368" cy="19202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Option B</a:t>
            </a:r>
            <a:endParaRPr lang="en-US" sz="2400" dirty="0"/>
          </a:p>
        </p:txBody>
      </p:sp>
      <p:sp>
        <p:nvSpPr>
          <p:cNvPr id="12"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BCC6D2"/>
            </a:solidFill>
            <a:prstDash val="solid"/>
          </a:ln>
        </p:spPr>
      </p:sp>
      <p:sp>
        <p:nvSpPr>
          <p:cNvPr id="3" name="Title Large"/>
          <p:cNvSpPr/>
          <p:nvPr>
            <p:ph idx="101" type="title" hasCustomPrompt="1"/>
          </p:nvPr>
        </p:nvSpPr>
        <p:spPr>
          <a:xfrm>
            <a:off x="1280160" y="1463040"/>
            <a:ext cx="9631375" cy="2743200"/>
          </a:xfrm>
          <a:prstGeom prst="rect">
            <a:avLst/>
          </a:prstGeom>
          <a:noFill/>
          <a:ln/>
        </p:spPr>
        <p:txBody>
          <a:bodyPr wrap="square" rtlCol="0"/>
          <a:lstStyle>
            <a:lvl1pPr algn="ctr" indent="0" marL="0">
              <a:buNone/>
              <a:defRPr lang="en-US" sz="5200" b="1" dirty="0">
                <a:solidFill>
                  <a:schemeClr val="tx2"/>
                </a:solidFill>
                <a:latin typeface="Avenir Next" pitchFamily="34" charset="0"/>
                <a:ea typeface="Avenir Next" pitchFamily="34" charset="-122"/>
                <a:cs typeface="Avenir Next" pitchFamily="34" charset="-120"/>
              </a:defRPr>
            </a:lvl1pPr>
          </a:lstStyle>
          <a:p>
            <a:pPr algn="ctr" indent="0" marL="0">
              <a:buNone/>
            </a:pPr>
            <a:r>
              <a:rPr lang="en-US" sz="5200" b="1" dirty="0">
                <a:solidFill>
                  <a:schemeClr val="tx2"/>
                </a:solidFill>
                <a:latin typeface="Avenir Next" pitchFamily="34" charset="0"/>
                <a:ea typeface="Avenir Next" pitchFamily="34" charset="-122"/>
                <a:cs typeface="Avenir Next" pitchFamily="34" charset="-120"/>
              </a:rPr>
              <a:t>One idea worth remembering</a:t>
            </a:r>
            <a:endParaRPr lang="en-US" sz="5200" dirty="0"/>
          </a:p>
        </p:txBody>
      </p:sp>
      <p:sp>
        <p:nvSpPr>
          <p:cNvPr id="4" name="Shape 1"/>
          <p:cNvSpPr/>
          <p:nvPr/>
        </p:nvSpPr>
        <p:spPr>
          <a:xfrm>
            <a:off x="5547208" y="4526280"/>
            <a:ext cx="1097280" cy="0"/>
          </a:xfrm>
          <a:prstGeom prst="line">
            <a:avLst/>
          </a:prstGeom>
          <a:noFill/>
          <a:ln w="12700">
            <a:solidFill>
              <a:schemeClr val="accent2"/>
            </a:solidFill>
            <a:prstDash val="solid"/>
          </a:ln>
        </p:spPr>
      </p:sp>
      <p:sp>
        <p:nvSpPr>
          <p:cNvPr id="5" name="Caption"/>
          <p:cNvSpPr/>
          <p:nvPr>
            <p:ph idx="103" type="body" hasCustomPrompt="1"/>
          </p:nvPr>
        </p:nvSpPr>
        <p:spPr>
          <a:xfrm>
            <a:off x="1280160" y="4754880"/>
            <a:ext cx="9631375" cy="548640"/>
          </a:xfrm>
          <a:prstGeom prst="rect">
            <a:avLst/>
          </a:prstGeom>
          <a:noFill/>
          <a:ln/>
        </p:spPr>
        <p:txBody>
          <a:bodyPr wrap="square" rtlCol="0"/>
          <a:lstStyle>
            <a:lvl1pPr algn="ctr"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ctr" indent="0" marL="0">
              <a:buNone/>
            </a:pPr>
            <a:r>
              <a:rPr lang="en-US" sz="1400" dirty="0">
                <a:solidFill>
                  <a:schemeClr val="accent6"/>
                </a:solidFill>
                <a:latin typeface="Avenir Next" pitchFamily="34" charset="0"/>
                <a:ea typeface="Avenir Next" pitchFamily="34" charset="-122"/>
                <a:cs typeface="Avenir Next" pitchFamily="34" charset="-120"/>
              </a:rPr>
              <a:t>Attribution or context</a:t>
            </a:r>
            <a:endParaRPr lang="en-US" sz="1400" dirty="0"/>
          </a:p>
        </p:txBody>
      </p:sp>
      <p:sp>
        <p:nvSpPr>
          <p:cNvPr id="6" name="Caption 2"/>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ummary">
    <p:bg>
      <p:bgPr>
        <a:solidFill>
          <a:schemeClr val="bg2"/>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SUMMARY</a:t>
            </a:r>
            <a:endParaRPr lang="en-US" sz="1400" dirty="0"/>
          </a:p>
        </p:txBody>
      </p:sp>
      <p:sp>
        <p:nvSpPr>
          <p:cNvPr id="3" name="Title"/>
          <p:cNvSpPr/>
          <p:nvPr>
            <p:ph idx="101" type="title" hasCustomPrompt="1"/>
          </p:nvPr>
        </p:nvSpPr>
        <p:spPr>
          <a:xfrm>
            <a:off x="731520" y="1280160"/>
            <a:ext cx="10728655" cy="109728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Key points</a:t>
            </a:r>
            <a:endParaRPr lang="en-US" sz="4000" dirty="0"/>
          </a:p>
        </p:txBody>
      </p:sp>
      <p:sp>
        <p:nvSpPr>
          <p:cNvPr id="4" name="Body"/>
          <p:cNvSpPr/>
          <p:nvPr>
            <p:ph idx="102" type="body" hasCustomPrompt="1"/>
          </p:nvPr>
        </p:nvSpPr>
        <p:spPr>
          <a:xfrm>
            <a:off x="731520" y="2606040"/>
            <a:ext cx="6675120" cy="338328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Three to five key points</a:t>
            </a:r>
            <a:endParaRPr lang="en-US" sz="2400" dirty="0"/>
          </a:p>
        </p:txBody>
      </p:sp>
      <p:sp>
        <p:nvSpPr>
          <p:cNvPr id="5" name="Shape 1"/>
          <p:cNvSpPr/>
          <p:nvPr/>
        </p:nvSpPr>
        <p:spPr>
          <a:xfrm>
            <a:off x="8001000" y="2606040"/>
            <a:ext cx="3459175" cy="3383280"/>
          </a:xfrm>
          <a:prstGeom prst="rect">
            <a:avLst/>
          </a:prstGeom>
          <a:ln w="12700">
            <a:solidFill>
              <a:schemeClr val="tx2"/>
            </a:solidFill>
            <a:prstDash val="solid"/>
          </a:ln>
        </p:spPr>
      </p:sp>
      <p:sp>
        <p:nvSpPr>
          <p:cNvPr id="6" name="Label 2"/>
          <p:cNvSpPr txBox="1"/>
          <p:nvPr/>
        </p:nvSpPr>
        <p:spPr>
          <a:xfrm>
            <a:off x="8275320" y="2788920"/>
            <a:ext cx="32004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BEFORE NEXT TIME</a:t>
            </a:r>
            <a:endParaRPr lang="en-US" sz="1400" dirty="0"/>
          </a:p>
        </p:txBody>
      </p:sp>
      <p:sp>
        <p:nvSpPr>
          <p:cNvPr id="7" name="Shape 3"/>
          <p:cNvSpPr/>
          <p:nvPr/>
        </p:nvSpPr>
        <p:spPr>
          <a:xfrm>
            <a:off x="8275320" y="3200400"/>
            <a:ext cx="2910535" cy="0"/>
          </a:xfrm>
          <a:prstGeom prst="line">
            <a:avLst/>
          </a:prstGeom>
          <a:noFill/>
          <a:ln w="12700">
            <a:solidFill>
              <a:srgbClr val="BCC6D2"/>
            </a:solidFill>
            <a:prstDash val="solid"/>
          </a:ln>
        </p:spPr>
      </p:sp>
      <p:sp>
        <p:nvSpPr>
          <p:cNvPr id="8" name="Body Small"/>
          <p:cNvSpPr/>
          <p:nvPr>
            <p:ph idx="106" type="body" hasCustomPrompt="1"/>
          </p:nvPr>
        </p:nvSpPr>
        <p:spPr>
          <a:xfrm>
            <a:off x="8275320" y="3383280"/>
            <a:ext cx="2910535" cy="246888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Reading, exercises, deadlines</a:t>
            </a:r>
            <a:endParaRPr lang="en-US" sz="2000" dirty="0"/>
          </a:p>
        </p:txBody>
      </p:sp>
      <p:sp>
        <p:nvSpPr>
          <p:cNvPr id="9"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1015</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ummary (Key Points Only)">
    <p:bg>
      <p:bgPr>
        <a:solidFill>
          <a:schemeClr val="bg2"/>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SUMMARY</a:t>
            </a:r>
            <a:endParaRPr lang="en-US" sz="1400" dirty="0"/>
          </a:p>
        </p:txBody>
      </p:sp>
      <p:sp>
        <p:nvSpPr>
          <p:cNvPr id="3" name="Title"/>
          <p:cNvSpPr/>
          <p:nvPr>
            <p:ph idx="101" type="title" hasCustomPrompt="1"/>
          </p:nvPr>
        </p:nvSpPr>
        <p:spPr>
          <a:xfrm>
            <a:off x="731520" y="1280160"/>
            <a:ext cx="10728655" cy="109728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Key points</a:t>
            </a:r>
            <a:endParaRPr lang="en-US" sz="4000" dirty="0"/>
          </a:p>
        </p:txBody>
      </p:sp>
      <p:sp>
        <p:nvSpPr>
          <p:cNvPr id="4" name="Body"/>
          <p:cNvSpPr/>
          <p:nvPr>
            <p:ph idx="102" type="body" hasCustomPrompt="1"/>
          </p:nvPr>
        </p:nvSpPr>
        <p:spPr>
          <a:xfrm>
            <a:off x="731520" y="2606040"/>
            <a:ext cx="9875520" cy="338328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Three to five key points</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1016</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1017</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p:bg>
      <p:bgPr>
        <a:solidFill>
          <a:schemeClr val="bg1"/>
        </a:solidFill>
      </p:bgPr>
    </p:bg>
    <p:spTree>
      <p:nvGrpSpPr>
        <p:cNvPr id="1" name=""/>
        <p:cNvGrpSpPr/>
        <p:nvPr/>
      </p:nvGrpSpPr>
      <p:grpSpPr>
        <a:xfrm>
          <a:off x="0" y="0"/>
          <a:ext cx="0" cy="0"/>
          <a:chOff x="0" y="0"/>
          <a:chExt cx="0" cy="0"/>
        </a:xfrm>
      </p:grpSpPr>
      <p:sp>
        <p:nvSpPr>
          <p:cNvPr id="2" name="Body"/>
          <p:cNvSpPr/>
          <p:nvPr>
            <p:ph idx="100" type="body" hasCustomPrompt="1"/>
          </p:nvPr>
        </p:nvSpPr>
        <p:spPr>
          <a:xfrm>
            <a:off x="731520" y="822960"/>
            <a:ext cx="9509760" cy="51206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3"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1018</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ig Fact">
    <p:bg>
      <p:bgPr>
        <a:solidFill>
          <a:schemeClr val="bg1"/>
        </a:solidFill>
      </p:bgPr>
    </p:bg>
    <p:spTree>
      <p:nvGrpSpPr>
        <p:cNvPr id="1" name=""/>
        <p:cNvGrpSpPr/>
        <p:nvPr/>
      </p:nvGrpSpPr>
      <p:grpSpPr>
        <a:xfrm>
          <a:off x="0" y="0"/>
          <a:ext cx="0" cy="0"/>
          <a:chOff x="0" y="0"/>
          <a:chExt cx="0" cy="0"/>
        </a:xfrm>
      </p:grpSpPr>
      <p:sp>
        <p:nvSpPr>
          <p:cNvPr id="2" name="Big Number"/>
          <p:cNvSpPr/>
          <p:nvPr>
            <p:ph idx="100" type="body" hasCustomPrompt="1"/>
          </p:nvPr>
        </p:nvSpPr>
        <p:spPr>
          <a:xfrm>
            <a:off x="731520" y="914400"/>
            <a:ext cx="10728655" cy="2926080"/>
          </a:xfrm>
          <a:prstGeom prst="rect">
            <a:avLst/>
          </a:prstGeom>
          <a:noFill/>
          <a:ln/>
        </p:spPr>
        <p:txBody>
          <a:bodyPr wrap="square" rtlCol="0"/>
          <a:lstStyle>
            <a:lvl1pPr algn="l" indent="0" marL="0">
              <a:buNone/>
              <a:defRPr lang="en-US" sz="15000" b="1" dirty="0">
                <a:solidFill>
                  <a:schemeClr val="accent2"/>
                </a:solidFill>
                <a:latin typeface="Avenir Next" pitchFamily="34" charset="0"/>
                <a:ea typeface="Avenir Next" pitchFamily="34" charset="-122"/>
                <a:cs typeface="Avenir Next" pitchFamily="34" charset="-120"/>
              </a:defRPr>
            </a:lvl1pPr>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100%</a:t>
            </a:r>
            <a:endParaRPr lang="en-US" sz="15000" dirty="0"/>
          </a:p>
        </p:txBody>
      </p:sp>
      <p:sp>
        <p:nvSpPr>
          <p:cNvPr id="3" name="Shape 0"/>
          <p:cNvSpPr/>
          <p:nvPr/>
        </p:nvSpPr>
        <p:spPr>
          <a:xfrm>
            <a:off x="731520" y="4114800"/>
            <a:ext cx="1828800" cy="0"/>
          </a:xfrm>
          <a:prstGeom prst="line">
            <a:avLst/>
          </a:prstGeom>
          <a:noFill/>
          <a:ln w="12700">
            <a:solidFill>
              <a:schemeClr val="tx2"/>
            </a:solidFill>
            <a:prstDash val="solid"/>
          </a:ln>
        </p:spPr>
      </p:sp>
      <p:sp>
        <p:nvSpPr>
          <p:cNvPr id="4" name="Subtitle"/>
          <p:cNvSpPr/>
          <p:nvPr>
            <p:ph idx="102" type="body" hasCustomPrompt="1"/>
          </p:nvPr>
        </p:nvSpPr>
        <p:spPr>
          <a:xfrm>
            <a:off x="731520" y="4343400"/>
            <a:ext cx="8686800" cy="1463040"/>
          </a:xfrm>
          <a:prstGeom prst="rect">
            <a:avLst/>
          </a:prstGeom>
          <a:noFill/>
          <a:ln/>
        </p:spPr>
        <p:txBody>
          <a:bodyPr wrap="square" rtlCol="0"/>
          <a:lstStyle>
            <a:lvl1pPr algn="l" indent="0" marL="0">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2400" dirty="0">
                <a:solidFill>
                  <a:schemeClr val="tx1"/>
                </a:solidFill>
                <a:latin typeface="Avenir Next" pitchFamily="34" charset="0"/>
                <a:ea typeface="Avenir Next" pitchFamily="34" charset="-122"/>
                <a:cs typeface="Avenir Next" pitchFamily="34" charset="-120"/>
              </a:rPr>
              <a:t>What the number means</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1019</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p:bgPr>
    </p:bg>
    <p:spTree>
      <p:nvGrpSpPr>
        <p:cNvPr id="1" name=""/>
        <p:cNvGrpSpPr/>
        <p:nvPr/>
      </p:nvGrpSpPr>
      <p:grpSpPr>
        <a:xfrm>
          <a:off x="0" y="0"/>
          <a:ext cx="0" cy="0"/>
          <a:chOff x="0" y="0"/>
          <a:chExt cx="0" cy="0"/>
        </a:xfrm>
      </p:grpSpPr>
      <p:sp>
        <p:nvSpPr>
          <p:cNvPr id="2" name="Big Number"/>
          <p:cNvSpPr txBox="1"/>
          <p:nvPr/>
        </p:nvSpPr>
        <p:spPr>
          <a:xfrm>
            <a:off x="685800" y="365760"/>
            <a:ext cx="1828800" cy="1645920"/>
          </a:xfrm>
          <a:prstGeom prst="rect">
            <a:avLst/>
          </a:prstGeom>
          <a:noFill/>
          <a:ln/>
        </p:spPr>
        <p:txBody>
          <a:bodyPr wrap="square" lIns="0" tIns="0" rIns="0" bIns="0" rtlCol="0" anchor="t"/>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a:t>
            </a:r>
            <a:endParaRPr lang="en-US" sz="15000" dirty="0"/>
          </a:p>
        </p:txBody>
      </p:sp>
      <p:sp>
        <p:nvSpPr>
          <p:cNvPr id="3" name="Title"/>
          <p:cNvSpPr/>
          <p:nvPr>
            <p:ph idx="101" type="title" hasCustomPrompt="1"/>
          </p:nvPr>
        </p:nvSpPr>
        <p:spPr>
          <a:xfrm>
            <a:off x="731520" y="1828800"/>
            <a:ext cx="10058400" cy="265176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Quotation text</a:t>
            </a:r>
            <a:endParaRPr lang="en-US" sz="4000" dirty="0"/>
          </a:p>
        </p:txBody>
      </p:sp>
      <p:sp>
        <p:nvSpPr>
          <p:cNvPr id="4" name="Shape 1"/>
          <p:cNvSpPr/>
          <p:nvPr/>
        </p:nvSpPr>
        <p:spPr>
          <a:xfrm>
            <a:off x="731520" y="4800600"/>
            <a:ext cx="1097280" cy="0"/>
          </a:xfrm>
          <a:prstGeom prst="line">
            <a:avLst/>
          </a:prstGeom>
          <a:noFill/>
          <a:ln w="12700">
            <a:solidFill>
              <a:schemeClr val="accent2"/>
            </a:solidFill>
            <a:prstDash val="solid"/>
          </a:ln>
        </p:spPr>
      </p:sp>
      <p:sp>
        <p:nvSpPr>
          <p:cNvPr id="5" name="Label"/>
          <p:cNvSpPr/>
          <p:nvPr>
            <p:ph idx="103" type="body" hasCustomPrompt="1"/>
          </p:nvPr>
        </p:nvSpPr>
        <p:spPr>
          <a:xfrm>
            <a:off x="731520" y="4983480"/>
            <a:ext cx="10058400" cy="365760"/>
          </a:xfrm>
          <a:prstGeom prst="rect">
            <a:avLst/>
          </a:prstGeom>
          <a:noFill/>
          <a:ln/>
        </p:spPr>
        <p:txBody>
          <a:bodyPr wrap="square" rtlCol="0"/>
          <a:lstStyle>
            <a:lvl1pPr algn="l" indent="0" marL="0">
              <a:buNone/>
              <a:defRPr lang="en-US" sz="1400" b="1" spc="300" kern="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6"/>
                </a:solidFill>
                <a:latin typeface="Avenir Next" pitchFamily="34" charset="0"/>
                <a:ea typeface="Avenir Next" pitchFamily="34" charset="-122"/>
                <a:cs typeface="Avenir Next" pitchFamily="34" charset="-120"/>
              </a:rPr>
              <a:t>NAME, SOURCE</a:t>
            </a:r>
            <a:endParaRPr lang="en-US" sz="1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1020</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p:bg>
      <p:bgPr>
        <a:solidFill>
          <a:schemeClr val="tx1"/>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0" y="0"/>
            <a:ext cx="12191695" cy="68580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 3 Up">
    <p:bg>
      <p:bgPr>
        <a:solidFill>
          <a:schemeClr val="bg1"/>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731520"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3" name="Caption"/>
          <p:cNvSpPr/>
          <p:nvPr>
            <p:ph idx="101" type="body" hasCustomPrompt="1"/>
          </p:nvPr>
        </p:nvSpPr>
        <p:spPr>
          <a:xfrm>
            <a:off x="731520"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4" name="Image 2"/>
          <p:cNvSpPr/>
          <p:nvPr>
            <p:ph type="pic" idx="102" hasCustomPrompt="1"/>
          </p:nvPr>
        </p:nvSpPr>
        <p:spPr>
          <a:xfrm>
            <a:off x="4429658"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5" name="Caption 2"/>
          <p:cNvSpPr/>
          <p:nvPr>
            <p:ph idx="103" type="body" hasCustomPrompt="1"/>
          </p:nvPr>
        </p:nvSpPr>
        <p:spPr>
          <a:xfrm>
            <a:off x="4429658"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6" name="Image 3"/>
          <p:cNvSpPr/>
          <p:nvPr>
            <p:ph type="pic" idx="104" hasCustomPrompt="1"/>
          </p:nvPr>
        </p:nvSpPr>
        <p:spPr>
          <a:xfrm>
            <a:off x="8127797"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7" name="Caption 3"/>
          <p:cNvSpPr/>
          <p:nvPr>
            <p:ph idx="105" type="body" hasCustomPrompt="1"/>
          </p:nvPr>
        </p:nvSpPr>
        <p:spPr>
          <a:xfrm>
            <a:off x="8127797"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8" name="Caption 4"/>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1022</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p:bgPr>
    </p:bg>
    <p:spTree>
      <p:nvGrpSpPr>
        <p:cNvPr id="1" name=""/>
        <p:cNvGrpSpPr/>
        <p:nvPr/>
      </p:nvGrpSpPr>
      <p:grpSpPr>
        <a:xfrm>
          <a:off x="0" y="0"/>
          <a:ext cx="0" cy="0"/>
          <a:chOff x="0" y="0"/>
          <a:chExt cx="0" cy="0"/>
        </a:xfrm>
      </p:grpSpPr>
      <p:sp>
        <p:nvSpPr>
          <p:cNvPr id="2"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BB852  ·  Data handling, visualisation and statistics</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1023</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alette">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t"/>
          <a:lstStyle/>
          <a:p>
            <a:pPr indent="0" marL="0">
              <a:buNone/>
            </a:pPr>
            <a:r>
              <a:rPr lang="en-US" sz="1300" b="1" spc="300" kern="0" dirty="0">
                <a:solidFill>
                  <a:srgbClr val="6B6E75"/>
                </a:solidFill>
                <a:latin typeface="Avenir Next" pitchFamily="34" charset="0"/>
                <a:ea typeface="Avenir Next" pitchFamily="34" charset="-122"/>
                <a:cs typeface="Avenir Next" pitchFamily="34" charset="-120"/>
              </a:rPr>
              <a:t>PALETTE AND USAGE</a:t>
            </a:r>
            <a:endParaRPr lang="en-US" sz="1300" dirty="0"/>
          </a:p>
        </p:txBody>
      </p:sp>
      <p:sp>
        <p:nvSpPr>
          <p:cNvPr id="3" name="Text 1"/>
          <p:cNvSpPr txBox="1"/>
          <p:nvPr/>
        </p:nvSpPr>
        <p:spPr>
          <a:xfrm>
            <a:off x="548640" y="731520"/>
            <a:ext cx="7315200" cy="365760"/>
          </a:xfrm>
          <a:prstGeom prst="rect">
            <a:avLst/>
          </a:prstGeom>
          <a:noFill/>
          <a:ln/>
        </p:spPr>
        <p:txBody>
          <a:bodyPr wrap="square" lIns="0" tIns="0" rIns="0" bIns="0" rtlCol="0" anchor="t"/>
          <a:lstStyle/>
          <a:p>
            <a:pPr indent="0" marL="0">
              <a:buNone/>
            </a:pPr>
            <a:r>
              <a:rPr lang="en-US" sz="1800" b="1" dirty="0">
                <a:solidFill>
                  <a:srgbClr val="1B2230"/>
                </a:solidFill>
                <a:latin typeface="Avenir Next" pitchFamily="34" charset="0"/>
                <a:ea typeface="Avenir Next" pitchFamily="34" charset="-122"/>
                <a:cs typeface="Avenir Next" pitchFamily="34" charset="-120"/>
              </a:rPr>
              <a:t>Reference layout. Not for presenting.</a:t>
            </a:r>
            <a:endParaRPr lang="en-US" sz="1800" dirty="0"/>
          </a:p>
        </p:txBody>
      </p:sp>
      <p:sp>
        <p:nvSpPr>
          <p:cNvPr id="4" name="Shape 2"/>
          <p:cNvSpPr/>
          <p:nvPr/>
        </p:nvSpPr>
        <p:spPr>
          <a:xfrm>
            <a:off x="548640" y="1371600"/>
            <a:ext cx="1388974" cy="1051560"/>
          </a:xfrm>
          <a:prstGeom prst="rect">
            <a:avLst/>
          </a:prstGeom>
          <a:solidFill>
            <a:srgbClr val="24405F"/>
          </a:solidFill>
          <a:ln w="6350">
            <a:solidFill>
              <a:srgbClr val="C9CCD1"/>
            </a:solidFill>
            <a:prstDash val="solid"/>
          </a:ln>
        </p:spPr>
      </p:sp>
      <p:sp>
        <p:nvSpPr>
          <p:cNvPr id="5" name="Text 3"/>
          <p:cNvSpPr txBox="1"/>
          <p:nvPr/>
        </p:nvSpPr>
        <p:spPr>
          <a:xfrm>
            <a:off x="548640" y="2514600"/>
            <a:ext cx="1388974" cy="274320"/>
          </a:xfrm>
          <a:prstGeom prst="rect">
            <a:avLst/>
          </a:prstGeom>
          <a:noFill/>
          <a:ln/>
        </p:spPr>
        <p:txBody>
          <a:bodyPr wrap="square" lIns="0" tIns="0" rIns="0" bIns="0" rtlCol="0" anchor="t"/>
          <a:lstStyle/>
          <a:p>
            <a:pPr indent="0" marL="0">
              <a:buNone/>
            </a:pPr>
            <a:r>
              <a:rPr lang="en-US" sz="1300" b="1" dirty="0">
                <a:solidFill>
                  <a:srgbClr val="1B2230"/>
                </a:solidFill>
                <a:latin typeface="Avenir Next" pitchFamily="34" charset="0"/>
                <a:ea typeface="Avenir Next" pitchFamily="34" charset="-122"/>
                <a:cs typeface="Avenir Next" pitchFamily="34" charset="-120"/>
              </a:rPr>
              <a:t>Main</a:t>
            </a:r>
            <a:endParaRPr lang="en-US" sz="1300" dirty="0"/>
          </a:p>
        </p:txBody>
      </p:sp>
      <p:sp>
        <p:nvSpPr>
          <p:cNvPr id="6" name="Text 4"/>
          <p:cNvSpPr txBox="1"/>
          <p:nvPr/>
        </p:nvSpPr>
        <p:spPr>
          <a:xfrm>
            <a:off x="548640" y="2788920"/>
            <a:ext cx="1388974" cy="274320"/>
          </a:xfrm>
          <a:prstGeom prst="rect">
            <a:avLst/>
          </a:prstGeom>
          <a:noFill/>
          <a:ln/>
        </p:spPr>
        <p:txBody>
          <a:bodyPr wrap="square" lIns="0" tIns="0" rIns="0" bIns="0" rtlCol="0" anchor="t"/>
          <a:lstStyle/>
          <a:p>
            <a:pPr indent="0" marL="0">
              <a:buNone/>
            </a:pPr>
            <a:r>
              <a:rPr lang="en-US" sz="1200" dirty="0">
                <a:solidFill>
                  <a:srgbClr val="1B2230"/>
                </a:solidFill>
                <a:latin typeface="Menlo" pitchFamily="34" charset="0"/>
                <a:ea typeface="Menlo" pitchFamily="34" charset="-122"/>
                <a:cs typeface="Menlo" pitchFamily="34" charset="-120"/>
              </a:rPr>
              <a:t>#24405F</a:t>
            </a:r>
            <a:endParaRPr lang="en-US" sz="1200" dirty="0"/>
          </a:p>
        </p:txBody>
      </p:sp>
      <p:sp>
        <p:nvSpPr>
          <p:cNvPr id="7" name="Text 5"/>
          <p:cNvSpPr txBox="1"/>
          <p:nvPr/>
        </p:nvSpPr>
        <p:spPr>
          <a:xfrm>
            <a:off x="548640" y="3063240"/>
            <a:ext cx="1388974" cy="685800"/>
          </a:xfrm>
          <a:prstGeom prst="rect">
            <a:avLst/>
          </a:prstGeom>
          <a:noFill/>
          <a:ln/>
        </p:spPr>
        <p:txBody>
          <a:bodyPr wrap="square" lIns="0" tIns="0" rIns="0" bIns="0" rtlCol="0" anchor="t"/>
          <a:lstStyle/>
          <a:p>
            <a:pPr indent="0" marL="0">
              <a:buNone/>
            </a:pPr>
            <a:r>
              <a:rPr lang="en-US" sz="1100" dirty="0">
                <a:solidFill>
                  <a:srgbClr val="6B6E75"/>
                </a:solidFill>
                <a:latin typeface="Avenir Next" pitchFamily="34" charset="0"/>
                <a:ea typeface="Avenir Next" pitchFamily="34" charset="-122"/>
                <a:cs typeface="Avenir Next" pitchFamily="34" charset="-120"/>
              </a:rPr>
              <a:t>Title and section slides, slide titles</a:t>
            </a:r>
            <a:endParaRPr lang="en-US" sz="1100" dirty="0"/>
          </a:p>
        </p:txBody>
      </p:sp>
      <p:sp>
        <p:nvSpPr>
          <p:cNvPr id="8" name="Shape 6"/>
          <p:cNvSpPr/>
          <p:nvPr/>
        </p:nvSpPr>
        <p:spPr>
          <a:xfrm>
            <a:off x="2166214" y="1371600"/>
            <a:ext cx="1388974" cy="1051560"/>
          </a:xfrm>
          <a:prstGeom prst="rect">
            <a:avLst/>
          </a:prstGeom>
          <a:solidFill>
            <a:srgbClr val="D0745A"/>
          </a:solidFill>
          <a:ln w="6350">
            <a:solidFill>
              <a:srgbClr val="C9CCD1"/>
            </a:solidFill>
            <a:prstDash val="solid"/>
          </a:ln>
        </p:spPr>
      </p:sp>
      <p:sp>
        <p:nvSpPr>
          <p:cNvPr id="9" name="Text 7"/>
          <p:cNvSpPr txBox="1"/>
          <p:nvPr/>
        </p:nvSpPr>
        <p:spPr>
          <a:xfrm>
            <a:off x="2166214" y="2514600"/>
            <a:ext cx="1388974" cy="274320"/>
          </a:xfrm>
          <a:prstGeom prst="rect">
            <a:avLst/>
          </a:prstGeom>
          <a:noFill/>
          <a:ln/>
        </p:spPr>
        <p:txBody>
          <a:bodyPr wrap="square" lIns="0" tIns="0" rIns="0" bIns="0" rtlCol="0" anchor="t"/>
          <a:lstStyle/>
          <a:p>
            <a:pPr indent="0" marL="0">
              <a:buNone/>
            </a:pPr>
            <a:r>
              <a:rPr lang="en-US" sz="1300" b="1" dirty="0">
                <a:solidFill>
                  <a:srgbClr val="1B2230"/>
                </a:solidFill>
                <a:latin typeface="Avenir Next" pitchFamily="34" charset="0"/>
                <a:ea typeface="Avenir Next" pitchFamily="34" charset="-122"/>
                <a:cs typeface="Avenir Next" pitchFamily="34" charset="-120"/>
              </a:rPr>
              <a:t>Accent</a:t>
            </a:r>
            <a:endParaRPr lang="en-US" sz="1300" dirty="0"/>
          </a:p>
        </p:txBody>
      </p:sp>
      <p:sp>
        <p:nvSpPr>
          <p:cNvPr id="10" name="Text 8"/>
          <p:cNvSpPr txBox="1"/>
          <p:nvPr/>
        </p:nvSpPr>
        <p:spPr>
          <a:xfrm>
            <a:off x="2166214" y="2788920"/>
            <a:ext cx="1388974" cy="274320"/>
          </a:xfrm>
          <a:prstGeom prst="rect">
            <a:avLst/>
          </a:prstGeom>
          <a:noFill/>
          <a:ln/>
        </p:spPr>
        <p:txBody>
          <a:bodyPr wrap="square" lIns="0" tIns="0" rIns="0" bIns="0" rtlCol="0" anchor="t"/>
          <a:lstStyle/>
          <a:p>
            <a:pPr indent="0" marL="0">
              <a:buNone/>
            </a:pPr>
            <a:r>
              <a:rPr lang="en-US" sz="1200" dirty="0">
                <a:solidFill>
                  <a:srgbClr val="1B2230"/>
                </a:solidFill>
                <a:latin typeface="Menlo" pitchFamily="34" charset="0"/>
                <a:ea typeface="Menlo" pitchFamily="34" charset="-122"/>
                <a:cs typeface="Menlo" pitchFamily="34" charset="-120"/>
              </a:rPr>
              <a:t>#D0745A</a:t>
            </a:r>
            <a:endParaRPr lang="en-US" sz="1200" dirty="0"/>
          </a:p>
        </p:txBody>
      </p:sp>
      <p:sp>
        <p:nvSpPr>
          <p:cNvPr id="11" name="Text 9"/>
          <p:cNvSpPr txBox="1"/>
          <p:nvPr/>
        </p:nvSpPr>
        <p:spPr>
          <a:xfrm>
            <a:off x="2166214" y="3063240"/>
            <a:ext cx="1388974" cy="685800"/>
          </a:xfrm>
          <a:prstGeom prst="rect">
            <a:avLst/>
          </a:prstGeom>
          <a:noFill/>
          <a:ln/>
        </p:spPr>
        <p:txBody>
          <a:bodyPr wrap="square" lIns="0" tIns="0" rIns="0" bIns="0" rtlCol="0" anchor="t"/>
          <a:lstStyle/>
          <a:p>
            <a:pPr indent="0" marL="0">
              <a:buNone/>
            </a:pPr>
            <a:r>
              <a:rPr lang="en-US" sz="1100" dirty="0">
                <a:solidFill>
                  <a:srgbClr val="6B6E75"/>
                </a:solidFill>
                <a:latin typeface="Avenir Next" pitchFamily="34" charset="0"/>
                <a:ea typeface="Avenir Next" pitchFamily="34" charset="-122"/>
                <a:cs typeface="Avenir Next" pitchFamily="34" charset="-120"/>
              </a:rPr>
              <a:t>Activity slides, big numbers</a:t>
            </a:r>
            <a:endParaRPr lang="en-US" sz="1100" dirty="0"/>
          </a:p>
        </p:txBody>
      </p:sp>
      <p:sp>
        <p:nvSpPr>
          <p:cNvPr id="12" name="Shape 10"/>
          <p:cNvSpPr/>
          <p:nvPr/>
        </p:nvSpPr>
        <p:spPr>
          <a:xfrm>
            <a:off x="3783787" y="1371600"/>
            <a:ext cx="1388974" cy="1051560"/>
          </a:xfrm>
          <a:prstGeom prst="rect">
            <a:avLst/>
          </a:prstGeom>
          <a:solidFill>
            <a:srgbClr val="2A7F76"/>
          </a:solidFill>
          <a:ln w="6350">
            <a:solidFill>
              <a:srgbClr val="C9CCD1"/>
            </a:solidFill>
            <a:prstDash val="solid"/>
          </a:ln>
        </p:spPr>
      </p:sp>
      <p:sp>
        <p:nvSpPr>
          <p:cNvPr id="13" name="Text 11"/>
          <p:cNvSpPr txBox="1"/>
          <p:nvPr/>
        </p:nvSpPr>
        <p:spPr>
          <a:xfrm>
            <a:off x="3783787" y="2514600"/>
            <a:ext cx="1388974" cy="274320"/>
          </a:xfrm>
          <a:prstGeom prst="rect">
            <a:avLst/>
          </a:prstGeom>
          <a:noFill/>
          <a:ln/>
        </p:spPr>
        <p:txBody>
          <a:bodyPr wrap="square" lIns="0" tIns="0" rIns="0" bIns="0" rtlCol="0" anchor="t"/>
          <a:lstStyle/>
          <a:p>
            <a:pPr indent="0" marL="0">
              <a:buNone/>
            </a:pPr>
            <a:r>
              <a:rPr lang="en-US" sz="1300" b="1" dirty="0">
                <a:solidFill>
                  <a:srgbClr val="1B2230"/>
                </a:solidFill>
                <a:latin typeface="Avenir Next" pitchFamily="34" charset="0"/>
                <a:ea typeface="Avenir Next" pitchFamily="34" charset="-122"/>
                <a:cs typeface="Avenir Next" pitchFamily="34" charset="-120"/>
              </a:rPr>
              <a:t>Secondary</a:t>
            </a:r>
            <a:endParaRPr lang="en-US" sz="1300" dirty="0"/>
          </a:p>
        </p:txBody>
      </p:sp>
      <p:sp>
        <p:nvSpPr>
          <p:cNvPr id="14" name="Text 12"/>
          <p:cNvSpPr txBox="1"/>
          <p:nvPr/>
        </p:nvSpPr>
        <p:spPr>
          <a:xfrm>
            <a:off x="3783787" y="2788920"/>
            <a:ext cx="1388974" cy="274320"/>
          </a:xfrm>
          <a:prstGeom prst="rect">
            <a:avLst/>
          </a:prstGeom>
          <a:noFill/>
          <a:ln/>
        </p:spPr>
        <p:txBody>
          <a:bodyPr wrap="square" lIns="0" tIns="0" rIns="0" bIns="0" rtlCol="0" anchor="t"/>
          <a:lstStyle/>
          <a:p>
            <a:pPr indent="0" marL="0">
              <a:buNone/>
            </a:pPr>
            <a:r>
              <a:rPr lang="en-US" sz="1200" dirty="0">
                <a:solidFill>
                  <a:srgbClr val="1B2230"/>
                </a:solidFill>
                <a:latin typeface="Menlo" pitchFamily="34" charset="0"/>
                <a:ea typeface="Menlo" pitchFamily="34" charset="-122"/>
                <a:cs typeface="Menlo" pitchFamily="34" charset="-120"/>
              </a:rPr>
              <a:t>#2A7F76</a:t>
            </a:r>
            <a:endParaRPr lang="en-US" sz="1200" dirty="0"/>
          </a:p>
        </p:txBody>
      </p:sp>
      <p:sp>
        <p:nvSpPr>
          <p:cNvPr id="15" name="Text 13"/>
          <p:cNvSpPr txBox="1"/>
          <p:nvPr/>
        </p:nvSpPr>
        <p:spPr>
          <a:xfrm>
            <a:off x="3783787" y="3063240"/>
            <a:ext cx="1388974" cy="685800"/>
          </a:xfrm>
          <a:prstGeom prst="rect">
            <a:avLst/>
          </a:prstGeom>
          <a:noFill/>
          <a:ln/>
        </p:spPr>
        <p:txBody>
          <a:bodyPr wrap="square" lIns="0" tIns="0" rIns="0" bIns="0" rtlCol="0" anchor="t"/>
          <a:lstStyle/>
          <a:p>
            <a:pPr indent="0" marL="0">
              <a:buNone/>
            </a:pPr>
            <a:r>
              <a:rPr lang="en-US" sz="1100" dirty="0">
                <a:solidFill>
                  <a:srgbClr val="6B6E75"/>
                </a:solidFill>
                <a:latin typeface="Avenir Next" pitchFamily="34" charset="0"/>
                <a:ea typeface="Avenir Next" pitchFamily="34" charset="-122"/>
                <a:cs typeface="Avenir Next" pitchFamily="34" charset="-120"/>
              </a:rPr>
              <a:t>Check questions, takeaway labels</a:t>
            </a:r>
            <a:endParaRPr lang="en-US" sz="1100" dirty="0"/>
          </a:p>
        </p:txBody>
      </p:sp>
      <p:sp>
        <p:nvSpPr>
          <p:cNvPr id="16" name="Shape 14"/>
          <p:cNvSpPr/>
          <p:nvPr/>
        </p:nvSpPr>
        <p:spPr>
          <a:xfrm>
            <a:off x="5401361" y="1371600"/>
            <a:ext cx="1388974" cy="1051560"/>
          </a:xfrm>
          <a:prstGeom prst="rect">
            <a:avLst/>
          </a:prstGeom>
          <a:solidFill>
            <a:srgbClr val="1B2230"/>
          </a:solidFill>
          <a:ln w="6350">
            <a:solidFill>
              <a:srgbClr val="C9CCD1"/>
            </a:solidFill>
            <a:prstDash val="solid"/>
          </a:ln>
        </p:spPr>
      </p:sp>
      <p:sp>
        <p:nvSpPr>
          <p:cNvPr id="17" name="Text 15"/>
          <p:cNvSpPr txBox="1"/>
          <p:nvPr/>
        </p:nvSpPr>
        <p:spPr>
          <a:xfrm>
            <a:off x="5401361" y="2514600"/>
            <a:ext cx="1388974" cy="274320"/>
          </a:xfrm>
          <a:prstGeom prst="rect">
            <a:avLst/>
          </a:prstGeom>
          <a:noFill/>
          <a:ln/>
        </p:spPr>
        <p:txBody>
          <a:bodyPr wrap="square" lIns="0" tIns="0" rIns="0" bIns="0" rtlCol="0" anchor="t"/>
          <a:lstStyle/>
          <a:p>
            <a:pPr indent="0" marL="0">
              <a:buNone/>
            </a:pPr>
            <a:r>
              <a:rPr lang="en-US" sz="1300" b="1" dirty="0">
                <a:solidFill>
                  <a:srgbClr val="1B2230"/>
                </a:solidFill>
                <a:latin typeface="Avenir Next" pitchFamily="34" charset="0"/>
                <a:ea typeface="Avenir Next" pitchFamily="34" charset="-122"/>
                <a:cs typeface="Avenir Next" pitchFamily="34" charset="-120"/>
              </a:rPr>
              <a:t>Text</a:t>
            </a:r>
            <a:endParaRPr lang="en-US" sz="1300" dirty="0"/>
          </a:p>
        </p:txBody>
      </p:sp>
      <p:sp>
        <p:nvSpPr>
          <p:cNvPr id="18" name="Text 16"/>
          <p:cNvSpPr txBox="1"/>
          <p:nvPr/>
        </p:nvSpPr>
        <p:spPr>
          <a:xfrm>
            <a:off x="5401361" y="2788920"/>
            <a:ext cx="1388974" cy="274320"/>
          </a:xfrm>
          <a:prstGeom prst="rect">
            <a:avLst/>
          </a:prstGeom>
          <a:noFill/>
          <a:ln/>
        </p:spPr>
        <p:txBody>
          <a:bodyPr wrap="square" lIns="0" tIns="0" rIns="0" bIns="0" rtlCol="0" anchor="t"/>
          <a:lstStyle/>
          <a:p>
            <a:pPr indent="0" marL="0">
              <a:buNone/>
            </a:pPr>
            <a:r>
              <a:rPr lang="en-US" sz="1200" dirty="0">
                <a:solidFill>
                  <a:srgbClr val="1B2230"/>
                </a:solidFill>
                <a:latin typeface="Menlo" pitchFamily="34" charset="0"/>
                <a:ea typeface="Menlo" pitchFamily="34" charset="-122"/>
                <a:cs typeface="Menlo" pitchFamily="34" charset="-120"/>
              </a:rPr>
              <a:t>#1B2230</a:t>
            </a:r>
            <a:endParaRPr lang="en-US" sz="1200" dirty="0"/>
          </a:p>
        </p:txBody>
      </p:sp>
      <p:sp>
        <p:nvSpPr>
          <p:cNvPr id="19" name="Text 17"/>
          <p:cNvSpPr txBox="1"/>
          <p:nvPr/>
        </p:nvSpPr>
        <p:spPr>
          <a:xfrm>
            <a:off x="5401361" y="3063240"/>
            <a:ext cx="1388974" cy="685800"/>
          </a:xfrm>
          <a:prstGeom prst="rect">
            <a:avLst/>
          </a:prstGeom>
          <a:noFill/>
          <a:ln/>
        </p:spPr>
        <p:txBody>
          <a:bodyPr wrap="square" lIns="0" tIns="0" rIns="0" bIns="0" rtlCol="0" anchor="t"/>
          <a:lstStyle/>
          <a:p>
            <a:pPr indent="0" marL="0">
              <a:buNone/>
            </a:pPr>
            <a:r>
              <a:rPr lang="en-US" sz="1100" dirty="0">
                <a:solidFill>
                  <a:srgbClr val="6B6E75"/>
                </a:solidFill>
                <a:latin typeface="Avenir Next" pitchFamily="34" charset="0"/>
                <a:ea typeface="Avenir Next" pitchFamily="34" charset="-122"/>
                <a:cs typeface="Avenir Next" pitchFamily="34" charset="-120"/>
              </a:rPr>
              <a:t>Body text</a:t>
            </a:r>
            <a:endParaRPr lang="en-US" sz="1100" dirty="0"/>
          </a:p>
        </p:txBody>
      </p:sp>
      <p:sp>
        <p:nvSpPr>
          <p:cNvPr id="20" name="Shape 18"/>
          <p:cNvSpPr/>
          <p:nvPr/>
        </p:nvSpPr>
        <p:spPr>
          <a:xfrm>
            <a:off x="7018934" y="1371600"/>
            <a:ext cx="1388974" cy="1051560"/>
          </a:xfrm>
          <a:prstGeom prst="rect">
            <a:avLst/>
          </a:prstGeom>
          <a:solidFill>
            <a:srgbClr val="6B6E75"/>
          </a:solidFill>
          <a:ln w="6350">
            <a:solidFill>
              <a:srgbClr val="C9CCD1"/>
            </a:solidFill>
            <a:prstDash val="solid"/>
          </a:ln>
        </p:spPr>
      </p:sp>
      <p:sp>
        <p:nvSpPr>
          <p:cNvPr id="21" name="Text 19"/>
          <p:cNvSpPr txBox="1"/>
          <p:nvPr/>
        </p:nvSpPr>
        <p:spPr>
          <a:xfrm>
            <a:off x="7018934" y="2514600"/>
            <a:ext cx="1388974" cy="274320"/>
          </a:xfrm>
          <a:prstGeom prst="rect">
            <a:avLst/>
          </a:prstGeom>
          <a:noFill/>
          <a:ln/>
        </p:spPr>
        <p:txBody>
          <a:bodyPr wrap="square" lIns="0" tIns="0" rIns="0" bIns="0" rtlCol="0" anchor="t"/>
          <a:lstStyle/>
          <a:p>
            <a:pPr indent="0" marL="0">
              <a:buNone/>
            </a:pPr>
            <a:r>
              <a:rPr lang="en-US" sz="1300" b="1" dirty="0">
                <a:solidFill>
                  <a:srgbClr val="1B2230"/>
                </a:solidFill>
                <a:latin typeface="Avenir Next" pitchFamily="34" charset="0"/>
                <a:ea typeface="Avenir Next" pitchFamily="34" charset="-122"/>
                <a:cs typeface="Avenir Next" pitchFamily="34" charset="-120"/>
              </a:rPr>
              <a:t>Grey</a:t>
            </a:r>
            <a:endParaRPr lang="en-US" sz="1300" dirty="0"/>
          </a:p>
        </p:txBody>
      </p:sp>
      <p:sp>
        <p:nvSpPr>
          <p:cNvPr id="22" name="Text 20"/>
          <p:cNvSpPr txBox="1"/>
          <p:nvPr/>
        </p:nvSpPr>
        <p:spPr>
          <a:xfrm>
            <a:off x="7018934" y="2788920"/>
            <a:ext cx="1388974" cy="274320"/>
          </a:xfrm>
          <a:prstGeom prst="rect">
            <a:avLst/>
          </a:prstGeom>
          <a:noFill/>
          <a:ln/>
        </p:spPr>
        <p:txBody>
          <a:bodyPr wrap="square" lIns="0" tIns="0" rIns="0" bIns="0" rtlCol="0" anchor="t"/>
          <a:lstStyle/>
          <a:p>
            <a:pPr indent="0" marL="0">
              <a:buNone/>
            </a:pPr>
            <a:r>
              <a:rPr lang="en-US" sz="1200" dirty="0">
                <a:solidFill>
                  <a:srgbClr val="1B2230"/>
                </a:solidFill>
                <a:latin typeface="Menlo" pitchFamily="34" charset="0"/>
                <a:ea typeface="Menlo" pitchFamily="34" charset="-122"/>
                <a:cs typeface="Menlo" pitchFamily="34" charset="-120"/>
              </a:rPr>
              <a:t>#6B6E75</a:t>
            </a:r>
            <a:endParaRPr lang="en-US" sz="1200" dirty="0"/>
          </a:p>
        </p:txBody>
      </p:sp>
      <p:sp>
        <p:nvSpPr>
          <p:cNvPr id="23" name="Text 21"/>
          <p:cNvSpPr txBox="1"/>
          <p:nvPr/>
        </p:nvSpPr>
        <p:spPr>
          <a:xfrm>
            <a:off x="7018934" y="3063240"/>
            <a:ext cx="1388974" cy="685800"/>
          </a:xfrm>
          <a:prstGeom prst="rect">
            <a:avLst/>
          </a:prstGeom>
          <a:noFill/>
          <a:ln/>
        </p:spPr>
        <p:txBody>
          <a:bodyPr wrap="square" lIns="0" tIns="0" rIns="0" bIns="0" rtlCol="0" anchor="t"/>
          <a:lstStyle/>
          <a:p>
            <a:pPr indent="0" marL="0">
              <a:buNone/>
            </a:pPr>
            <a:r>
              <a:rPr lang="en-US" sz="1100" dirty="0">
                <a:solidFill>
                  <a:srgbClr val="6B6E75"/>
                </a:solidFill>
                <a:latin typeface="Avenir Next" pitchFamily="34" charset="0"/>
                <a:ea typeface="Avenir Next" pitchFamily="34" charset="-122"/>
                <a:cs typeface="Avenir Next" pitchFamily="34" charset="-120"/>
              </a:rPr>
              <a:t>Captions, footer, context in figures</a:t>
            </a:r>
            <a:endParaRPr lang="en-US" sz="1100" dirty="0"/>
          </a:p>
        </p:txBody>
      </p:sp>
      <p:sp>
        <p:nvSpPr>
          <p:cNvPr id="24" name="Shape 22"/>
          <p:cNvSpPr/>
          <p:nvPr/>
        </p:nvSpPr>
        <p:spPr>
          <a:xfrm>
            <a:off x="8636508" y="1371600"/>
            <a:ext cx="1388974" cy="1051560"/>
          </a:xfrm>
          <a:prstGeom prst="rect">
            <a:avLst/>
          </a:prstGeom>
          <a:solidFill>
            <a:srgbClr val="EDEFF1"/>
          </a:solidFill>
          <a:ln w="6350">
            <a:solidFill>
              <a:srgbClr val="C9CCD1"/>
            </a:solidFill>
            <a:prstDash val="solid"/>
          </a:ln>
        </p:spPr>
      </p:sp>
      <p:sp>
        <p:nvSpPr>
          <p:cNvPr id="25" name="Text 23"/>
          <p:cNvSpPr txBox="1"/>
          <p:nvPr/>
        </p:nvSpPr>
        <p:spPr>
          <a:xfrm>
            <a:off x="8636508" y="2514600"/>
            <a:ext cx="1388974" cy="274320"/>
          </a:xfrm>
          <a:prstGeom prst="rect">
            <a:avLst/>
          </a:prstGeom>
          <a:noFill/>
          <a:ln/>
        </p:spPr>
        <p:txBody>
          <a:bodyPr wrap="square" lIns="0" tIns="0" rIns="0" bIns="0" rtlCol="0" anchor="t"/>
          <a:lstStyle/>
          <a:p>
            <a:pPr indent="0" marL="0">
              <a:buNone/>
            </a:pPr>
            <a:r>
              <a:rPr lang="en-US" sz="1300" b="1" dirty="0">
                <a:solidFill>
                  <a:srgbClr val="1B2230"/>
                </a:solidFill>
                <a:latin typeface="Avenir Next" pitchFamily="34" charset="0"/>
                <a:ea typeface="Avenir Next" pitchFamily="34" charset="-122"/>
                <a:cs typeface="Avenir Next" pitchFamily="34" charset="-120"/>
              </a:rPr>
              <a:t>Panel</a:t>
            </a:r>
            <a:endParaRPr lang="en-US" sz="1300" dirty="0"/>
          </a:p>
        </p:txBody>
      </p:sp>
      <p:sp>
        <p:nvSpPr>
          <p:cNvPr id="26" name="Text 24"/>
          <p:cNvSpPr txBox="1"/>
          <p:nvPr/>
        </p:nvSpPr>
        <p:spPr>
          <a:xfrm>
            <a:off x="8636508" y="2788920"/>
            <a:ext cx="1388974" cy="274320"/>
          </a:xfrm>
          <a:prstGeom prst="rect">
            <a:avLst/>
          </a:prstGeom>
          <a:noFill/>
          <a:ln/>
        </p:spPr>
        <p:txBody>
          <a:bodyPr wrap="square" lIns="0" tIns="0" rIns="0" bIns="0" rtlCol="0" anchor="t"/>
          <a:lstStyle/>
          <a:p>
            <a:pPr indent="0" marL="0">
              <a:buNone/>
            </a:pPr>
            <a:r>
              <a:rPr lang="en-US" sz="1200" dirty="0">
                <a:solidFill>
                  <a:srgbClr val="1B2230"/>
                </a:solidFill>
                <a:latin typeface="Menlo" pitchFamily="34" charset="0"/>
                <a:ea typeface="Menlo" pitchFamily="34" charset="-122"/>
                <a:cs typeface="Menlo" pitchFamily="34" charset="-120"/>
              </a:rPr>
              <a:t>#EDEFF1</a:t>
            </a:r>
            <a:endParaRPr lang="en-US" sz="1200" dirty="0"/>
          </a:p>
        </p:txBody>
      </p:sp>
      <p:sp>
        <p:nvSpPr>
          <p:cNvPr id="27" name="Text 25"/>
          <p:cNvSpPr txBox="1"/>
          <p:nvPr/>
        </p:nvSpPr>
        <p:spPr>
          <a:xfrm>
            <a:off x="8636508" y="3063240"/>
            <a:ext cx="1388974" cy="685800"/>
          </a:xfrm>
          <a:prstGeom prst="rect">
            <a:avLst/>
          </a:prstGeom>
          <a:noFill/>
          <a:ln/>
        </p:spPr>
        <p:txBody>
          <a:bodyPr wrap="square" lIns="0" tIns="0" rIns="0" bIns="0" rtlCol="0" anchor="t"/>
          <a:lstStyle/>
          <a:p>
            <a:pPr indent="0" marL="0">
              <a:buNone/>
            </a:pPr>
            <a:r>
              <a:rPr lang="en-US" sz="1100" dirty="0">
                <a:solidFill>
                  <a:srgbClr val="6B6E75"/>
                </a:solidFill>
                <a:latin typeface="Avenir Next" pitchFamily="34" charset="0"/>
                <a:ea typeface="Avenir Next" pitchFamily="34" charset="-122"/>
                <a:cs typeface="Avenir Next" pitchFamily="34" charset="-120"/>
              </a:rPr>
              <a:t>Key concept, summary, quote backgrounds</a:t>
            </a:r>
            <a:endParaRPr lang="en-US" sz="1100" dirty="0"/>
          </a:p>
        </p:txBody>
      </p:sp>
      <p:sp>
        <p:nvSpPr>
          <p:cNvPr id="28" name="Shape 26"/>
          <p:cNvSpPr/>
          <p:nvPr/>
        </p:nvSpPr>
        <p:spPr>
          <a:xfrm>
            <a:off x="10254082" y="1371600"/>
            <a:ext cx="1388974" cy="1051560"/>
          </a:xfrm>
          <a:prstGeom prst="rect">
            <a:avLst/>
          </a:prstGeom>
          <a:solidFill>
            <a:srgbClr val="FBFAF6"/>
          </a:solidFill>
          <a:ln w="6350">
            <a:solidFill>
              <a:srgbClr val="C9CCD1"/>
            </a:solidFill>
            <a:prstDash val="solid"/>
          </a:ln>
        </p:spPr>
      </p:sp>
      <p:sp>
        <p:nvSpPr>
          <p:cNvPr id="29" name="Text 27"/>
          <p:cNvSpPr txBox="1"/>
          <p:nvPr/>
        </p:nvSpPr>
        <p:spPr>
          <a:xfrm>
            <a:off x="10254082" y="2514600"/>
            <a:ext cx="1388974" cy="274320"/>
          </a:xfrm>
          <a:prstGeom prst="rect">
            <a:avLst/>
          </a:prstGeom>
          <a:noFill/>
          <a:ln/>
        </p:spPr>
        <p:txBody>
          <a:bodyPr wrap="square" lIns="0" tIns="0" rIns="0" bIns="0" rtlCol="0" anchor="t"/>
          <a:lstStyle/>
          <a:p>
            <a:pPr indent="0" marL="0">
              <a:buNone/>
            </a:pPr>
            <a:r>
              <a:rPr lang="en-US" sz="1300" b="1" dirty="0">
                <a:solidFill>
                  <a:srgbClr val="1B2230"/>
                </a:solidFill>
                <a:latin typeface="Avenir Next" pitchFamily="34" charset="0"/>
                <a:ea typeface="Avenir Next" pitchFamily="34" charset="-122"/>
                <a:cs typeface="Avenir Next" pitchFamily="34" charset="-120"/>
              </a:rPr>
              <a:t>Background</a:t>
            </a:r>
            <a:endParaRPr lang="en-US" sz="1300" dirty="0"/>
          </a:p>
        </p:txBody>
      </p:sp>
      <p:sp>
        <p:nvSpPr>
          <p:cNvPr id="30" name="Text 28"/>
          <p:cNvSpPr txBox="1"/>
          <p:nvPr/>
        </p:nvSpPr>
        <p:spPr>
          <a:xfrm>
            <a:off x="10254082" y="2788920"/>
            <a:ext cx="1388974" cy="274320"/>
          </a:xfrm>
          <a:prstGeom prst="rect">
            <a:avLst/>
          </a:prstGeom>
          <a:noFill/>
          <a:ln/>
        </p:spPr>
        <p:txBody>
          <a:bodyPr wrap="square" lIns="0" tIns="0" rIns="0" bIns="0" rtlCol="0" anchor="t"/>
          <a:lstStyle/>
          <a:p>
            <a:pPr indent="0" marL="0">
              <a:buNone/>
            </a:pPr>
            <a:r>
              <a:rPr lang="en-US" sz="1200" dirty="0">
                <a:solidFill>
                  <a:srgbClr val="1B2230"/>
                </a:solidFill>
                <a:latin typeface="Menlo" pitchFamily="34" charset="0"/>
                <a:ea typeface="Menlo" pitchFamily="34" charset="-122"/>
                <a:cs typeface="Menlo" pitchFamily="34" charset="-120"/>
              </a:rPr>
              <a:t>#FBFAF6</a:t>
            </a:r>
            <a:endParaRPr lang="en-US" sz="1200" dirty="0"/>
          </a:p>
        </p:txBody>
      </p:sp>
      <p:sp>
        <p:nvSpPr>
          <p:cNvPr id="31" name="Text 29"/>
          <p:cNvSpPr txBox="1"/>
          <p:nvPr/>
        </p:nvSpPr>
        <p:spPr>
          <a:xfrm>
            <a:off x="10254082" y="3063240"/>
            <a:ext cx="1388974" cy="685800"/>
          </a:xfrm>
          <a:prstGeom prst="rect">
            <a:avLst/>
          </a:prstGeom>
          <a:noFill/>
          <a:ln/>
        </p:spPr>
        <p:txBody>
          <a:bodyPr wrap="square" lIns="0" tIns="0" rIns="0" bIns="0" rtlCol="0" anchor="t"/>
          <a:lstStyle/>
          <a:p>
            <a:pPr indent="0" marL="0">
              <a:buNone/>
            </a:pPr>
            <a:r>
              <a:rPr lang="en-US" sz="1100" dirty="0">
                <a:solidFill>
                  <a:srgbClr val="6B6E75"/>
                </a:solidFill>
                <a:latin typeface="Avenir Next" pitchFamily="34" charset="0"/>
                <a:ea typeface="Avenir Next" pitchFamily="34" charset="-122"/>
                <a:cs typeface="Avenir Next" pitchFamily="34" charset="-120"/>
              </a:rPr>
              <a:t>Content slides</a:t>
            </a:r>
            <a:endParaRPr lang="en-US" sz="1100" dirty="0"/>
          </a:p>
        </p:txBody>
      </p:sp>
      <p:sp>
        <p:nvSpPr>
          <p:cNvPr id="32" name="Shape 30"/>
          <p:cNvSpPr/>
          <p:nvPr/>
        </p:nvSpPr>
        <p:spPr>
          <a:xfrm>
            <a:off x="548640" y="3886200"/>
            <a:ext cx="11094415" cy="0"/>
          </a:xfrm>
          <a:prstGeom prst="line">
            <a:avLst/>
          </a:prstGeom>
          <a:noFill/>
          <a:ln w="12700">
            <a:solidFill>
              <a:srgbClr val="D5D9DF"/>
            </a:solidFill>
            <a:prstDash val="solid"/>
          </a:ln>
        </p:spPr>
      </p:sp>
      <p:sp>
        <p:nvSpPr>
          <p:cNvPr id="33" name="Text 31"/>
          <p:cNvSpPr txBox="1"/>
          <p:nvPr/>
        </p:nvSpPr>
        <p:spPr>
          <a:xfrm>
            <a:off x="548640" y="4069080"/>
            <a:ext cx="2743200" cy="274320"/>
          </a:xfrm>
          <a:prstGeom prst="rect">
            <a:avLst/>
          </a:prstGeom>
          <a:noFill/>
          <a:ln/>
        </p:spPr>
        <p:txBody>
          <a:bodyPr wrap="square" lIns="0" tIns="0" rIns="0" bIns="0" rtlCol="0" anchor="t"/>
          <a:lstStyle/>
          <a:p>
            <a:pPr indent="0" marL="0">
              <a:buNone/>
            </a:pPr>
            <a:r>
              <a:rPr lang="en-US" sz="1200" b="1" spc="300" kern="0" dirty="0">
                <a:solidFill>
                  <a:srgbClr val="6B6E75"/>
                </a:solidFill>
                <a:latin typeface="Avenir Next" pitchFamily="34" charset="0"/>
                <a:ea typeface="Avenir Next" pitchFamily="34" charset="-122"/>
                <a:cs typeface="Avenir Next" pitchFamily="34" charset="-120"/>
              </a:rPr>
              <a:t>FONT</a:t>
            </a:r>
            <a:endParaRPr lang="en-US" sz="1200" dirty="0"/>
          </a:p>
        </p:txBody>
      </p:sp>
      <p:sp>
        <p:nvSpPr>
          <p:cNvPr id="34" name="Text 32"/>
          <p:cNvSpPr txBox="1"/>
          <p:nvPr/>
        </p:nvSpPr>
        <p:spPr>
          <a:xfrm>
            <a:off x="548640" y="4343400"/>
            <a:ext cx="5394960" cy="548640"/>
          </a:xfrm>
          <a:prstGeom prst="rect">
            <a:avLst/>
          </a:prstGeom>
          <a:noFill/>
          <a:ln/>
        </p:spPr>
        <p:txBody>
          <a:bodyPr wrap="square" lIns="0" tIns="0" rIns="0" bIns="0" rtlCol="0" anchor="t"/>
          <a:lstStyle/>
          <a:p>
            <a:pPr indent="0" marL="0">
              <a:buNone/>
            </a:pPr>
            <a:r>
              <a:rPr lang="en-US" sz="1300" dirty="0">
                <a:solidFill>
                  <a:srgbClr val="1B2230"/>
                </a:solidFill>
                <a:latin typeface="Avenir Next" pitchFamily="34" charset="0"/>
                <a:ea typeface="Avenir Next" pitchFamily="34" charset="-122"/>
                <a:cs typeface="Avenir Next" pitchFamily="34" charset="-120"/>
              </a:rPr>
              <a:t>Avenir Next (bold titles, regular body). Export a PDF backup for other computers.</a:t>
            </a:r>
            <a:endParaRPr lang="en-US" sz="1300" dirty="0"/>
          </a:p>
        </p:txBody>
      </p:sp>
      <p:sp>
        <p:nvSpPr>
          <p:cNvPr id="35" name="Text 33"/>
          <p:cNvSpPr txBox="1"/>
          <p:nvPr/>
        </p:nvSpPr>
        <p:spPr>
          <a:xfrm>
            <a:off x="548640" y="4983480"/>
            <a:ext cx="2743200" cy="274320"/>
          </a:xfrm>
          <a:prstGeom prst="rect">
            <a:avLst/>
          </a:prstGeom>
          <a:noFill/>
          <a:ln/>
        </p:spPr>
        <p:txBody>
          <a:bodyPr wrap="square" lIns="0" tIns="0" rIns="0" bIns="0" rtlCol="0" anchor="t"/>
          <a:lstStyle/>
          <a:p>
            <a:pPr indent="0" marL="0">
              <a:buNone/>
            </a:pPr>
            <a:r>
              <a:rPr lang="en-US" sz="1200" b="1" spc="300" kern="0" dirty="0">
                <a:solidFill>
                  <a:srgbClr val="6B6E75"/>
                </a:solidFill>
                <a:latin typeface="Avenir Next" pitchFamily="34" charset="0"/>
                <a:ea typeface="Avenir Next" pitchFamily="34" charset="-122"/>
                <a:cs typeface="Avenir Next" pitchFamily="34" charset="-120"/>
              </a:rPr>
              <a:t>FIGURES IN R</a:t>
            </a:r>
            <a:endParaRPr lang="en-US" sz="1200" dirty="0"/>
          </a:p>
        </p:txBody>
      </p:sp>
      <p:sp>
        <p:nvSpPr>
          <p:cNvPr id="36" name="Shape 34"/>
          <p:cNvSpPr/>
          <p:nvPr/>
        </p:nvSpPr>
        <p:spPr>
          <a:xfrm>
            <a:off x="548640" y="5257800"/>
            <a:ext cx="5394960" cy="868680"/>
          </a:xfrm>
          <a:prstGeom prst="rect">
            <a:avLst/>
          </a:prstGeom>
          <a:solidFill>
            <a:srgbClr val="F1F2F4"/>
          </a:solidFill>
          <a:ln w="12700">
            <a:solidFill>
              <a:srgbClr val="F1F2F4"/>
            </a:solidFill>
            <a:prstDash val="solid"/>
          </a:ln>
        </p:spPr>
      </p:sp>
      <p:sp>
        <p:nvSpPr>
          <p:cNvPr id="37" name="Text 35"/>
          <p:cNvSpPr txBox="1"/>
          <p:nvPr/>
        </p:nvSpPr>
        <p:spPr>
          <a:xfrm>
            <a:off x="658368" y="5321808"/>
            <a:ext cx="5175504" cy="777240"/>
          </a:xfrm>
          <a:prstGeom prst="rect">
            <a:avLst/>
          </a:prstGeom>
          <a:noFill/>
          <a:ln/>
        </p:spPr>
        <p:txBody>
          <a:bodyPr wrap="square" lIns="0" tIns="0" rIns="0" bIns="0" rtlCol="0" anchor="t"/>
          <a:lstStyle/>
          <a:p>
            <a:pPr indent="0" marL="0">
              <a:buNone/>
            </a:pPr>
            <a:r>
              <a:rPr lang="en-US" sz="1100" dirty="0">
                <a:solidFill>
                  <a:srgbClr val="1B2230"/>
                </a:solidFill>
                <a:latin typeface="Menlo" pitchFamily="34" charset="0"/>
                <a:ea typeface="Menlo" pitchFamily="34" charset="-122"/>
                <a:cs typeface="Menlo" pitchFamily="34" charset="-120"/>
              </a:rPr>
              <a:t>scale_colour_manual(values = c("#6B6E75", "#24405F", "#D0745A", "#2A7F76"))</a:t>
            </a:r>
            <a:endParaRPr lang="en-US" sz="1100" dirty="0"/>
          </a:p>
        </p:txBody>
      </p:sp>
      <p:sp>
        <p:nvSpPr>
          <p:cNvPr id="38" name="Text 36"/>
          <p:cNvSpPr txBox="1"/>
          <p:nvPr/>
        </p:nvSpPr>
        <p:spPr>
          <a:xfrm>
            <a:off x="6309360" y="4069080"/>
            <a:ext cx="2743200" cy="274320"/>
          </a:xfrm>
          <a:prstGeom prst="rect">
            <a:avLst/>
          </a:prstGeom>
          <a:noFill/>
          <a:ln/>
        </p:spPr>
        <p:txBody>
          <a:bodyPr wrap="square" lIns="0" tIns="0" rIns="0" bIns="0" rtlCol="0" anchor="t"/>
          <a:lstStyle/>
          <a:p>
            <a:pPr indent="0" marL="0">
              <a:buNone/>
            </a:pPr>
            <a:r>
              <a:rPr lang="en-US" sz="1200" b="1" spc="300" kern="0" dirty="0">
                <a:solidFill>
                  <a:srgbClr val="6B6E75"/>
                </a:solidFill>
                <a:latin typeface="Avenir Next" pitchFamily="34" charset="0"/>
                <a:ea typeface="Avenir Next" pitchFamily="34" charset="-122"/>
                <a:cs typeface="Avenir Next" pitchFamily="34" charset="-120"/>
              </a:rPr>
              <a:t>USAGE</a:t>
            </a:r>
            <a:endParaRPr lang="en-US" sz="1200" dirty="0"/>
          </a:p>
        </p:txBody>
      </p:sp>
      <p:sp>
        <p:nvSpPr>
          <p:cNvPr id="39" name="Text 37"/>
          <p:cNvSpPr txBox="1"/>
          <p:nvPr/>
        </p:nvSpPr>
        <p:spPr>
          <a:xfrm>
            <a:off x="6309360" y="4343400"/>
            <a:ext cx="5333695" cy="411480"/>
          </a:xfrm>
          <a:prstGeom prst="rect">
            <a:avLst/>
          </a:prstGeom>
          <a:noFill/>
          <a:ln/>
        </p:spPr>
        <p:txBody>
          <a:bodyPr wrap="square" lIns="0" tIns="0" rIns="0" bIns="0" rtlCol="0" anchor="t"/>
          <a:lstStyle/>
          <a:p>
            <a:pPr indent="0" marL="0">
              <a:buNone/>
            </a:pPr>
            <a:r>
              <a:rPr lang="en-US" sz="1300" dirty="0">
                <a:solidFill>
                  <a:srgbClr val="1B2230"/>
                </a:solidFill>
                <a:latin typeface="Avenir Next" pitchFamily="34" charset="0"/>
                <a:ea typeface="Avenir Next" pitchFamily="34" charset="-122"/>
                <a:cs typeface="Avenir Next" pitchFamily="34" charset="-120"/>
              </a:rPr>
              <a:t>Main colour marks the course: keep it for titles and dark slides.</a:t>
            </a:r>
            <a:endParaRPr lang="en-US" sz="1300" dirty="0"/>
          </a:p>
        </p:txBody>
      </p:sp>
      <p:sp>
        <p:nvSpPr>
          <p:cNvPr id="40" name="Text 38"/>
          <p:cNvSpPr txBox="1"/>
          <p:nvPr/>
        </p:nvSpPr>
        <p:spPr>
          <a:xfrm>
            <a:off x="6309360" y="4800600"/>
            <a:ext cx="5333695" cy="411480"/>
          </a:xfrm>
          <a:prstGeom prst="rect">
            <a:avLst/>
          </a:prstGeom>
          <a:noFill/>
          <a:ln/>
        </p:spPr>
        <p:txBody>
          <a:bodyPr wrap="square" lIns="0" tIns="0" rIns="0" bIns="0" rtlCol="0" anchor="t"/>
          <a:lstStyle/>
          <a:p>
            <a:pPr indent="0" marL="0">
              <a:buNone/>
            </a:pPr>
            <a:r>
              <a:rPr lang="en-US" sz="1300" dirty="0">
                <a:solidFill>
                  <a:srgbClr val="1B2230"/>
                </a:solidFill>
                <a:latin typeface="Avenir Next" pitchFamily="34" charset="0"/>
                <a:ea typeface="Avenir Next" pitchFamily="34" charset="-122"/>
                <a:cs typeface="Avenir Next" pitchFamily="34" charset="-120"/>
              </a:rPr>
              <a:t>Accent for the one thing to notice; never two accents competing on one slide.</a:t>
            </a:r>
            <a:endParaRPr lang="en-US" sz="1300" dirty="0"/>
          </a:p>
        </p:txBody>
      </p:sp>
      <p:sp>
        <p:nvSpPr>
          <p:cNvPr id="41" name="Text 39"/>
          <p:cNvSpPr txBox="1"/>
          <p:nvPr/>
        </p:nvSpPr>
        <p:spPr>
          <a:xfrm>
            <a:off x="6309360" y="5257800"/>
            <a:ext cx="5333695" cy="411480"/>
          </a:xfrm>
          <a:prstGeom prst="rect">
            <a:avLst/>
          </a:prstGeom>
          <a:noFill/>
          <a:ln/>
        </p:spPr>
        <p:txBody>
          <a:bodyPr wrap="square" lIns="0" tIns="0" rIns="0" bIns="0" rtlCol="0" anchor="t"/>
          <a:lstStyle/>
          <a:p>
            <a:pPr indent="0" marL="0">
              <a:buNone/>
            </a:pPr>
            <a:r>
              <a:rPr lang="en-US" sz="1300" dirty="0">
                <a:solidFill>
                  <a:srgbClr val="1B2230"/>
                </a:solidFill>
                <a:latin typeface="Avenir Next" pitchFamily="34" charset="0"/>
                <a:ea typeface="Avenir Next" pitchFamily="34" charset="-122"/>
                <a:cs typeface="Avenir Next" pitchFamily="34" charset="-120"/>
              </a:rPr>
              <a:t>Figures: plot context in grey, the result in the main or accent colour.</a:t>
            </a:r>
            <a:endParaRPr lang="en-US" sz="1300" dirty="0"/>
          </a:p>
        </p:txBody>
      </p:sp>
      <p:sp>
        <p:nvSpPr>
          <p:cNvPr id="42" name="Text 40"/>
          <p:cNvSpPr txBox="1"/>
          <p:nvPr/>
        </p:nvSpPr>
        <p:spPr>
          <a:xfrm>
            <a:off x="6309360" y="5715000"/>
            <a:ext cx="5333695" cy="411480"/>
          </a:xfrm>
          <a:prstGeom prst="rect">
            <a:avLst/>
          </a:prstGeom>
          <a:noFill/>
          <a:ln/>
        </p:spPr>
        <p:txBody>
          <a:bodyPr wrap="square" lIns="0" tIns="0" rIns="0" bIns="0" rtlCol="0" anchor="t"/>
          <a:lstStyle/>
          <a:p>
            <a:pPr indent="0" marL="0">
              <a:buNone/>
            </a:pPr>
            <a:r>
              <a:rPr lang="en-US" sz="1300" dirty="0">
                <a:solidFill>
                  <a:srgbClr val="1B2230"/>
                </a:solidFill>
                <a:latin typeface="Avenir Next" pitchFamily="34" charset="0"/>
                <a:ea typeface="Avenir Next" pitchFamily="34" charset="-122"/>
                <a:cs typeface="Avenir Next" pitchFamily="34" charset="-120"/>
              </a:rPr>
              <a:t>Course details are fixed in the layouts; edit them in Edit Slide Layouts.</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A2B4C9"/>
                </a:solidFill>
                <a:latin typeface="Avenir Next"/>
                <a:ea typeface="Avenir Next"/>
                <a:cs typeface="Avenir N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lide_01_cover.png"/>
          <p:cNvPicPr>
            <a:picLocks noGrp="1" noChangeAspect="1"/>
          </p:cNvPicPr>
          <p:nvPr>
            <p:ph type="pic" idx="100"/>
          </p:nvPr>
        </p:nvPicPr>
        <p:blipFill>
          <a:blip r:embed="rId2"/>
          <a:srcRect t="28" b="28"/>
          <a:stretch>
            <a:fillRect/>
          </a:stretch>
        </p:blipFill>
        <p:spPr/>
      </p:pic>
      <p:sp>
        <p:nvSpPr>
          <p:cNvPr id="3" name="Title 2"/>
          <p:cNvSpPr>
            <a:spLocks noGrp="1"/>
          </p:cNvSpPr>
          <p:nvPr>
            <p:ph type="title" idx="103"/>
          </p:nvPr>
        </p:nvSpPr>
        <p:spPr/>
        <p:txBody>
          <a:bodyPr/>
          <a:lstStyle/>
          <a:p>
            <a:r>
              <a:rPr sz="4000"/>
              <a:t>From biological variation to statistical uncertainty</a:t>
            </a:r>
          </a:p>
        </p:txBody>
      </p:sp>
      <p:sp>
        <p:nvSpPr>
          <p:cNvPr id="4" name="Text Placeholder 3"/>
          <p:cNvSpPr>
            <a:spLocks noGrp="1"/>
          </p:cNvSpPr>
          <p:nvPr>
            <p:ph type="body" idx="104"/>
          </p:nvPr>
        </p:nvSpPr>
        <p:spPr/>
        <p:txBody>
          <a:bodyPr/>
          <a:lstStyle/>
          <a:p>
            <a:r>
              <a:t>Summary statistics, distributions and probability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r>
              <a:t>Summary statistics, distributions and probability</a:t>
            </a:r>
          </a:p>
        </p:txBody>
      </p:sp>
      <p:sp>
        <p:nvSpPr>
          <p:cNvPr id="3" name="Text Placeholder 2"/>
          <p:cNvSpPr>
            <a:spLocks noGrp="1"/>
          </p:cNvSpPr>
          <p:nvPr>
            <p:ph type="body" idx="103"/>
          </p:nvPr>
        </p:nvSpPr>
        <p:spPr/>
        <p:txBody>
          <a:bodyPr/>
          <a:lstStyle/>
          <a:p>
            <a:r>
              <a:rPr sz="2000"/>
              <a:t>Explain why a sample can misrepresent a population</a:t>
            </a:r>
          </a:p>
          <a:p>
            <a:r>
              <a:rPr sz="2000"/>
              <a:t>Choose summaries of location, spread and shape to fit the data and the question</a:t>
            </a:r>
          </a:p>
          <a:p>
            <a:r>
              <a:rPr sz="2000"/>
              <a:t>Describe what normal and Poisson distributions represent</a:t>
            </a:r>
          </a:p>
          <a:p>
            <a:r>
              <a:rPr sz="2000"/>
              <a:t>Distinguish variation among individuals (SD) from uncertainty in an estimate (SEM, CI)</a:t>
            </a:r>
          </a:p>
          <a:p>
            <a:r>
              <a:rPr sz="2000"/>
              <a:t>Explain why larger samples are more precise but no less biased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t>01</a:t>
            </a:r>
          </a:p>
        </p:txBody>
      </p:sp>
      <p:sp>
        <p:nvSpPr>
          <p:cNvPr id="3" name="Title 2"/>
          <p:cNvSpPr>
            <a:spLocks noGrp="1"/>
          </p:cNvSpPr>
          <p:nvPr>
            <p:ph type="title" idx="103"/>
          </p:nvPr>
        </p:nvSpPr>
        <p:spPr/>
        <p:txBody>
          <a:bodyPr/>
          <a:lstStyle/>
          <a:p>
            <a:r>
              <a:t>Samples and populations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Which moths does our sample represent?</a:t>
            </a:r>
          </a:p>
        </p:txBody>
      </p:sp>
      <p:pic>
        <p:nvPicPr>
          <p:cNvPr id="3" name="Picture Placeholder 2" descr="slide_04_sampling_frame.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r>
              <a:t>Ask: does every moth have the same chance of ending up in the sample?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r>
              <a:t>Which sample better estimates the mean forewing length in June?</a:t>
            </a:r>
          </a:p>
        </p:txBody>
      </p:sp>
      <p:sp>
        <p:nvSpPr>
          <p:cNvPr id="3" name="Text Placeholder 2"/>
          <p:cNvSpPr>
            <a:spLocks noGrp="1"/>
          </p:cNvSpPr>
          <p:nvPr>
            <p:ph type="body" idx="105"/>
          </p:nvPr>
        </p:nvSpPr>
        <p:spPr/>
        <p:txBody>
          <a:bodyPr/>
          <a:lstStyle/>
          <a:p>
            <a:r>
              <a:t>n = 40, trapped on a range of nights through June</a:t>
            </a:r>
          </a:p>
        </p:txBody>
      </p:sp>
      <p:sp>
        <p:nvSpPr>
          <p:cNvPr id="4" name="Text Placeholder 3"/>
          <p:cNvSpPr>
            <a:spLocks noGrp="1"/>
          </p:cNvSpPr>
          <p:nvPr>
            <p:ph type="body" idx="109"/>
          </p:nvPr>
        </p:nvSpPr>
        <p:spPr/>
        <p:txBody>
          <a:bodyPr/>
          <a:lstStyle/>
          <a:p>
            <a:r>
              <a:t>n = 400, trapped on warm, dry nights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t>02</a:t>
            </a:r>
          </a:p>
        </p:txBody>
      </p:sp>
      <p:sp>
        <p:nvSpPr>
          <p:cNvPr id="3" name="Title 2"/>
          <p:cNvSpPr>
            <a:spLocks noGrp="1"/>
          </p:cNvSpPr>
          <p:nvPr>
            <p:ph type="title" idx="103"/>
          </p:nvPr>
        </p:nvSpPr>
        <p:spPr/>
        <p:txBody>
          <a:bodyPr/>
          <a:lstStyle/>
          <a:p>
            <a:r>
              <a:t>Describing a distribution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Look before you summarise</a:t>
            </a:r>
          </a:p>
        </p:txBody>
      </p:sp>
      <p:pic>
        <p:nvPicPr>
          <p:cNvPr id="3" name="Picture Placeholder 2" descr="slide_07_wing_histogram.png"/>
          <p:cNvPicPr>
            <a:picLocks noGrp="1" noChangeAspect="1"/>
          </p:cNvPicPr>
          <p:nvPr>
            <p:ph type="pic" idx="101"/>
          </p:nvPr>
        </p:nvPicPr>
        <p:blipFill>
          <a:blip r:embed="rId2"/>
          <a:srcRect l="31" r="31"/>
          <a:stretch>
            <a:fillRect/>
          </a:stretch>
        </p:blipFill>
        <p:spPr/>
      </p:pic>
      <p:sp>
        <p:nvSpPr>
          <p:cNvPr id="4" name="Text Placeholder 3"/>
          <p:cNvSpPr>
            <a:spLocks noGrp="1"/>
          </p:cNvSpPr>
          <p:nvPr>
            <p:ph type="body" idx="102"/>
          </p:nvPr>
        </p:nvSpPr>
        <p:spPr/>
        <p:txBody>
          <a:bodyPr/>
          <a:lstStyle/>
          <a:p>
            <a:r>
              <a:rPr b="1" sz="2000"/>
              <a:t>Location:</a:t>
            </a:r>
            <a:r>
              <a:rPr sz="2000"/>
              <a:t> where is the centre?</a:t>
            </a:r>
          </a:p>
          <a:p>
            <a:r>
              <a:rPr b="1" sz="2000"/>
              <a:t>Spread:</a:t>
            </a:r>
            <a:r>
              <a:rPr sz="2000"/>
              <a:t> how much do moths differ?</a:t>
            </a:r>
          </a:p>
          <a:p>
            <a:r>
              <a:rPr b="1" sz="2000"/>
              <a:t>Shape:</a:t>
            </a:r>
            <a:r>
              <a:rPr sz="2000"/>
              <a:t> symmetrical, skewed, more than one peak?</a:t>
            </a:r>
          </a:p>
          <a:p>
            <a:r>
              <a:rPr b="1" sz="2000"/>
              <a:t>Unusual values:</a:t>
            </a:r>
            <a:r>
              <a:rPr sz="2000"/>
              <a:t> errors, or real biology?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Mean or median? It depends on the shape</a:t>
            </a:r>
          </a:p>
        </p:txBody>
      </p:sp>
      <p:pic>
        <p:nvPicPr>
          <p:cNvPr id="3" name="Picture Placeholder 2" descr="slide_08_skewed_counts.png"/>
          <p:cNvPicPr>
            <a:picLocks noGrp="1" noChangeAspect="1"/>
          </p:cNvPicPr>
          <p:nvPr>
            <p:ph type="pic" idx="101"/>
          </p:nvPr>
        </p:nvPicPr>
        <p:blipFill>
          <a:blip r:embed="rId2"/>
          <a:srcRect l="31" r="31"/>
          <a:stretch>
            <a:fillRect/>
          </a:stretch>
        </p:blipFill>
        <p:spPr/>
      </p:pic>
      <p:sp>
        <p:nvSpPr>
          <p:cNvPr id="4" name="Text Placeholder 3"/>
          <p:cNvSpPr>
            <a:spLocks noGrp="1"/>
          </p:cNvSpPr>
          <p:nvPr>
            <p:ph type="body" idx="102"/>
          </p:nvPr>
        </p:nvSpPr>
        <p:spPr/>
        <p:txBody>
          <a:bodyPr/>
          <a:lstStyle/>
          <a:p>
            <a:r>
              <a:rPr sz="2000"/>
              <a:t>Trap counts are </a:t>
            </a:r>
            <a:r>
              <a:rPr b="1" sz="2000"/>
              <a:t>right-skewed</a:t>
            </a:r>
            <a:r>
              <a:rPr sz="2000"/>
              <a:t>: a long tail of busy nights</a:t>
            </a:r>
          </a:p>
          <a:p>
            <a:r>
              <a:rPr sz="2000"/>
              <a:t>The mean, </a:t>
            </a:r>
            <a:r>
              <a:rPr sz="2000">
                <a:latin typeface="Menlo"/>
              </a:rPr>
              <a:t>mean(x)</a:t>
            </a:r>
            <a:r>
              <a:rPr sz="2000"/>
              <a:t>, uses every value and is pulled towards the tail: 4.5 moths</a:t>
            </a:r>
          </a:p>
          <a:p>
            <a:r>
              <a:rPr sz="2000"/>
              <a:t>The median, </a:t>
            </a:r>
            <a:r>
              <a:rPr sz="2000">
                <a:latin typeface="Menlo"/>
              </a:rPr>
              <a:t>median(x)</a:t>
            </a:r>
            <a:r>
              <a:rPr sz="2000"/>
              <a:t>, is the middle value: 3 moths</a:t>
            </a:r>
          </a:p>
          <a:p>
            <a:r>
              <a:rPr sz="2000"/>
              <a:t>Both are valid: the mean estimates the expected catch, the median a typical night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Average growth with the geometric mean</a:t>
            </a:r>
          </a:p>
        </p:txBody>
      </p:sp>
      <p:pic>
        <p:nvPicPr>
          <p:cNvPr id="3" name="Picture Placeholder 2" descr="slide_09_geometric_mean.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r>
              <a:t>TAKEAWAY</a:t>
            </a:r>
          </a:p>
        </p:txBody>
      </p:sp>
      <p:sp>
        <p:nvSpPr>
          <p:cNvPr id="5" name="Text Placeholder 4"/>
          <p:cNvSpPr>
            <a:spLocks noGrp="1"/>
          </p:cNvSpPr>
          <p:nvPr>
            <p:ph type="body" idx="105"/>
          </p:nvPr>
        </p:nvSpPr>
        <p:spPr/>
        <p:txBody>
          <a:bodyPr/>
          <a:lstStyle/>
          <a:p>
            <a:r>
              <a:rPr sz="2000"/>
              <a:t>Rates of 1.6, 0.7 and 1.6 average 1.3, which predicts 220, not 179</a:t>
            </a:r>
          </a:p>
          <a:p>
            <a:r>
              <a:rPr sz="2000"/>
              <a:t>The geometric mean, 1.21, is right: </a:t>
            </a:r>
            <a:r>
              <a:rPr sz="2000">
                <a:latin typeface="Menlo"/>
              </a:rPr>
              <a:t>exp(mean(log(x)))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Variance and SD: spread around the mean</a:t>
            </a:r>
          </a:p>
        </p:txBody>
      </p:sp>
      <p:pic>
        <p:nvPicPr>
          <p:cNvPr id="3" name="Picture Placeholder 2" descr="slide_10_deviations.png"/>
          <p:cNvPicPr>
            <a:picLocks noGrp="1" noChangeAspect="1"/>
          </p:cNvPicPr>
          <p:nvPr>
            <p:ph type="pic" idx="101"/>
          </p:nvPr>
        </p:nvPicPr>
        <p:blipFill>
          <a:blip r:embed="rId2"/>
          <a:srcRect l="31" r="31"/>
          <a:stretch>
            <a:fillRect/>
          </a:stretch>
        </p:blipFill>
        <p:spPr/>
      </p:pic>
      <p:sp>
        <p:nvSpPr>
          <p:cNvPr id="4" name="Text Placeholder 3"/>
          <p:cNvSpPr>
            <a:spLocks noGrp="1"/>
          </p:cNvSpPr>
          <p:nvPr>
            <p:ph type="body" idx="102"/>
          </p:nvPr>
        </p:nvSpPr>
        <p:spPr/>
        <p:txBody>
          <a:bodyPr/>
          <a:lstStyle/>
          <a:p>
            <a:r>
              <a:rPr sz="2000"/>
              <a:t>Each moth's </a:t>
            </a:r>
            <a:r>
              <a:rPr b="1" sz="2000"/>
              <a:t>deviation</a:t>
            </a:r>
            <a:r>
              <a:rPr sz="2000"/>
              <a:t> from the mean (orange lines)</a:t>
            </a:r>
          </a:p>
          <a:p>
            <a:r>
              <a:rPr sz="2000"/>
              <a:t>Square, add up and divide by n − 1: the </a:t>
            </a:r>
            <a:r>
              <a:rPr b="1" sz="2000"/>
              <a:t>variance</a:t>
            </a:r>
            <a:r>
              <a:rPr sz="2000"/>
              <a:t>, </a:t>
            </a:r>
            <a:r>
              <a:rPr sz="2000">
                <a:latin typeface="Menlo"/>
              </a:rPr>
              <a:t>var(x)</a:t>
            </a:r>
            <a:r>
              <a:rPr sz="2000"/>
              <a:t> = 5.98 mm²</a:t>
            </a:r>
          </a:p>
          <a:p>
            <a:r>
              <a:rPr sz="2000"/>
              <a:t>Why n − 1? Deviations from the sample mean are a little too small, so dividing by n underestimates</a:t>
            </a:r>
          </a:p>
          <a:p>
            <a:r>
              <a:rPr b="1" sz="2000"/>
              <a:t>SD</a:t>
            </a:r>
            <a:r>
              <a:rPr sz="2000"/>
              <a:t> = √variance, back in mm: </a:t>
            </a:r>
            <a:r>
              <a:rPr sz="2000">
                <a:latin typeface="Menlo"/>
              </a:rPr>
              <a:t>sd(x)</a:t>
            </a:r>
            <a:r>
              <a:rPr sz="2000"/>
              <a:t> = 2.45 mm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Box plots: median, quartiles, outliers</a:t>
            </a:r>
          </a:p>
        </p:txBody>
      </p:sp>
      <p:pic>
        <p:nvPicPr>
          <p:cNvPr id="3" name="Picture Placeholder 2" descr="slide_11_boxplot.png"/>
          <p:cNvPicPr>
            <a:picLocks noGrp="1" noChangeAspect="1"/>
          </p:cNvPicPr>
          <p:nvPr>
            <p:ph type="pic" idx="101"/>
          </p:nvPr>
        </p:nvPicPr>
        <p:blipFill>
          <a:blip r:embed="rId2"/>
          <a:srcRect l="31" r="31"/>
          <a:stretch>
            <a:fillRect/>
          </a:stretch>
        </p:blipFill>
        <p:spPr/>
      </p:pic>
      <p:sp>
        <p:nvSpPr>
          <p:cNvPr id="4" name="Text Placeholder 3"/>
          <p:cNvSpPr>
            <a:spLocks noGrp="1"/>
          </p:cNvSpPr>
          <p:nvPr>
            <p:ph type="body" idx="102"/>
          </p:nvPr>
        </p:nvSpPr>
        <p:spPr/>
        <p:txBody>
          <a:bodyPr/>
          <a:lstStyle/>
          <a:p>
            <a:r>
              <a:rPr sz="2000"/>
              <a:t>The box holds the middle 50% of nights; its length is the </a:t>
            </a:r>
            <a:r>
              <a:rPr b="1" sz="2000"/>
              <a:t>IQR</a:t>
            </a:r>
            <a:r>
              <a:rPr sz="2000"/>
              <a:t>, </a:t>
            </a:r>
            <a:r>
              <a:rPr sz="2000">
                <a:latin typeface="Menlo"/>
              </a:rPr>
              <a:t>IQR(x)</a:t>
            </a:r>
            <a:r>
              <a:rPr sz="2000"/>
              <a:t> = 5.5</a:t>
            </a:r>
          </a:p>
          <a:p>
            <a:r>
              <a:rPr sz="2000"/>
              <a:t>The line is the median (3 moths)</a:t>
            </a:r>
          </a:p>
          <a:p>
            <a:r>
              <a:rPr sz="2000"/>
              <a:t>Whiskers reach the furthest values within 1.5 × IQR of the box</a:t>
            </a:r>
          </a:p>
          <a:p>
            <a:r>
              <a:rPr sz="2000"/>
              <a:t>Points beyond are flagged as possible outliers: check them, don't just delete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t>03</a:t>
            </a:r>
          </a:p>
        </p:txBody>
      </p:sp>
      <p:sp>
        <p:nvSpPr>
          <p:cNvPr id="3" name="Title 2"/>
          <p:cNvSpPr>
            <a:spLocks noGrp="1"/>
          </p:cNvSpPr>
          <p:nvPr>
            <p:ph type="title" idx="103"/>
          </p:nvPr>
        </p:nvSpPr>
        <p:spPr/>
        <p:txBody>
          <a:bodyPr/>
          <a:lstStyle/>
          <a:p>
            <a:r>
              <a:t>Probability and distributions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Probability describes what could happen</a:t>
            </a:r>
          </a:p>
        </p:txBody>
      </p:sp>
      <p:pic>
        <p:nvPicPr>
          <p:cNvPr id="3" name="Picture Placeholder 2" descr="slide_13_survival_binomial.png"/>
          <p:cNvPicPr>
            <a:picLocks noGrp="1" noChangeAspect="1"/>
          </p:cNvPicPr>
          <p:nvPr>
            <p:ph type="pic" idx="101"/>
          </p:nvPr>
        </p:nvPicPr>
        <p:blipFill>
          <a:blip r:embed="rId2"/>
          <a:srcRect l="31" r="31"/>
          <a:stretch>
            <a:fillRect/>
          </a:stretch>
        </p:blipFill>
        <p:spPr/>
      </p:pic>
      <p:sp>
        <p:nvSpPr>
          <p:cNvPr id="4" name="Text Placeholder 3"/>
          <p:cNvSpPr>
            <a:spLocks noGrp="1"/>
          </p:cNvSpPr>
          <p:nvPr>
            <p:ph type="body" idx="102"/>
          </p:nvPr>
        </p:nvSpPr>
        <p:spPr/>
        <p:txBody>
          <a:bodyPr/>
          <a:lstStyle/>
          <a:p>
            <a:r>
              <a:rPr sz="2000"/>
              <a:t>Each larva survives with probability 0.7 (0 = never, 1 = always)</a:t>
            </a:r>
          </a:p>
          <a:p>
            <a:r>
              <a:rPr sz="2000"/>
              <a:t>Out of 20, we expect 0.7 × 20 = 14 to survive</a:t>
            </a:r>
          </a:p>
          <a:p>
            <a:r>
              <a:rPr sz="2000"/>
              <a:t>The realised number varies: exactly 14 has probability 0.19; 12 to 16 has 0.78</a:t>
            </a:r>
          </a:p>
          <a:p>
            <a:r>
              <a:rPr sz="2000"/>
              <a:t>This set of outcomes and their probabilities is a </a:t>
            </a:r>
            <a:r>
              <a:rPr b="1" sz="2000"/>
              <a:t>probability distribution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Probability for counts, density for lengths</a:t>
            </a:r>
          </a:p>
        </p:txBody>
      </p:sp>
      <p:pic>
        <p:nvPicPr>
          <p:cNvPr id="3" name="Picture Placeholder 2" descr="slide_14_probability_vs_density.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r>
              <a:t>For a measurement, probability = area under the curve; one exact value has probability 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normal distribution: μ and σ</a:t>
            </a:r>
          </a:p>
        </p:txBody>
      </p:sp>
      <p:pic>
        <p:nvPicPr>
          <p:cNvPr id="3" name="Picture Placeholder 2" descr="slide_15_normal_parameters.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r>
              <a:t>Normal model: about 68% of values within ±1 σ, 95% within about ±2 σ. Simulate: </a:t>
            </a:r>
            <a:r>
              <a:rPr>
                <a:latin typeface="Menlo"/>
              </a:rPr>
              <a:t>rnorm(n, mean, sd)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Poisson distribution: λ for counts</a:t>
            </a:r>
          </a:p>
        </p:txBody>
      </p:sp>
      <p:pic>
        <p:nvPicPr>
          <p:cNvPr id="3" name="Picture Placeholder 2" descr="slide_16_poisson_lambda.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r>
              <a:t>Mean = variance = λ; real counts are often more variable (overdispersion). Simulate: </a:t>
            </a:r>
            <a:r>
              <a:rPr>
                <a:latin typeface="Menlo"/>
              </a:rPr>
              <a:t>rpois(n, lambda)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r>
              <a:t>Which is the most sensible starting model for moths caught per trap-night?</a:t>
            </a:r>
          </a:p>
        </p:txBody>
      </p:sp>
      <p:sp>
        <p:nvSpPr>
          <p:cNvPr id="3" name="Text Placeholder 2"/>
          <p:cNvSpPr>
            <a:spLocks noGrp="1"/>
          </p:cNvSpPr>
          <p:nvPr>
            <p:ph type="body" idx="105"/>
          </p:nvPr>
        </p:nvSpPr>
        <p:spPr/>
        <p:txBody>
          <a:bodyPr/>
          <a:lstStyle/>
          <a:p>
            <a:r>
              <a:t>Normal, mean 4.5</a:t>
            </a:r>
          </a:p>
        </p:txBody>
      </p:sp>
      <p:sp>
        <p:nvSpPr>
          <p:cNvPr id="4" name="Text Placeholder 3"/>
          <p:cNvSpPr>
            <a:spLocks noGrp="1"/>
          </p:cNvSpPr>
          <p:nvPr>
            <p:ph type="body" idx="109"/>
          </p:nvPr>
        </p:nvSpPr>
        <p:spPr/>
        <p:txBody>
          <a:bodyPr/>
          <a:lstStyle/>
          <a:p>
            <a:r>
              <a:t>Poisson, λ = 4.5</a:t>
            </a:r>
          </a:p>
        </p:txBody>
      </p:sp>
      <p:sp>
        <p:nvSpPr>
          <p:cNvPr id="5" name="Text Placeholder 4"/>
          <p:cNvSpPr>
            <a:spLocks noGrp="1"/>
          </p:cNvSpPr>
          <p:nvPr>
            <p:ph type="body" idx="113"/>
          </p:nvPr>
        </p:nvSpPr>
        <p:spPr/>
        <p:txBody>
          <a:bodyPr/>
          <a:lstStyle/>
          <a:p>
            <a:r>
              <a:t>Binomial, p = 0.7</a:t>
            </a:r>
          </a:p>
        </p:txBody>
      </p:sp>
      <p:sp>
        <p:nvSpPr>
          <p:cNvPr id="6" name="Text Placeholder 5"/>
          <p:cNvSpPr>
            <a:spLocks noGrp="1"/>
          </p:cNvSpPr>
          <p:nvPr>
            <p:ph type="body" idx="117"/>
          </p:nvPr>
        </p:nvSpPr>
        <p:spPr/>
        <p:txBody>
          <a:bodyPr/>
          <a:lstStyle/>
          <a:p>
            <a:r>
              <a:t>Uniform, 0 to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t>04</a:t>
            </a:r>
          </a:p>
        </p:txBody>
      </p:sp>
      <p:sp>
        <p:nvSpPr>
          <p:cNvPr id="3" name="Title 2"/>
          <p:cNvSpPr>
            <a:spLocks noGrp="1"/>
          </p:cNvSpPr>
          <p:nvPr>
            <p:ph type="title" idx="103"/>
          </p:nvPr>
        </p:nvSpPr>
        <p:spPr/>
        <p:txBody>
          <a:bodyPr/>
          <a:lstStyle/>
          <a:p>
            <a:r>
              <a:t>From variation to uncertainty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Each sample gives a different mean</a:t>
            </a:r>
          </a:p>
        </p:txBody>
      </p:sp>
      <p:pic>
        <p:nvPicPr>
          <p:cNvPr id="3" name="Picture Placeholder 2" descr="slide_19_repeated_samples.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r>
              <a:t>Eight samples of 16 moths from one population (mean 28 mm, SD 2 mm). Diamonds are the sample means: 27.5 to 28.6 mm.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Larger samples give more precise means</a:t>
            </a:r>
          </a:p>
        </p:txBody>
      </p:sp>
      <p:pic>
        <p:nvPicPr>
          <p:cNvPr id="3" name="Picture Placeholder 2" descr="slide_20_sampling_distributions.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r>
              <a:t>TAKEAWAY</a:t>
            </a:r>
          </a:p>
        </p:txBody>
      </p:sp>
      <p:sp>
        <p:nvSpPr>
          <p:cNvPr id="5" name="Text Placeholder 4"/>
          <p:cNvSpPr>
            <a:spLocks noGrp="1"/>
          </p:cNvSpPr>
          <p:nvPr>
            <p:ph type="body" idx="105"/>
          </p:nvPr>
        </p:nvSpPr>
        <p:spPr/>
        <p:txBody>
          <a:bodyPr/>
          <a:lstStyle/>
          <a:p>
            <a:r>
              <a:rPr sz="2000"/>
              <a:t>Both sets of means centre on 28 mm</a:t>
            </a:r>
          </a:p>
          <a:p>
            <a:r>
              <a:rPr sz="2000"/>
              <a:t>Spread shrinks with √n: four times the moths halves it</a:t>
            </a:r>
          </a:p>
          <a:p>
            <a:r>
              <a:rPr b="1" sz="2000"/>
              <a:t>Law of large numbers:</a:t>
            </a:r>
            <a:r>
              <a:rPr sz="2000"/>
              <a:t> as n grows, means approach 28 mm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SD and SEM answer different questions</a:t>
            </a:r>
          </a:p>
        </p:txBody>
      </p:sp>
      <p:sp>
        <p:nvSpPr>
          <p:cNvPr id="3" name="Text Placeholder 2"/>
          <p:cNvSpPr>
            <a:spLocks noGrp="1"/>
          </p:cNvSpPr>
          <p:nvPr>
            <p:ph type="body" idx="101"/>
          </p:nvPr>
        </p:nvSpPr>
        <p:spPr/>
        <p:txBody>
          <a:bodyPr/>
          <a:lstStyle/>
          <a:p>
            <a:r>
              <a:t>SD: SPREAD OF THE MOTHS</a:t>
            </a:r>
          </a:p>
        </p:txBody>
      </p:sp>
      <p:sp>
        <p:nvSpPr>
          <p:cNvPr id="4" name="Text Placeholder 3"/>
          <p:cNvSpPr>
            <a:spLocks noGrp="1"/>
          </p:cNvSpPr>
          <p:nvPr>
            <p:ph type="body" idx="103"/>
          </p:nvPr>
        </p:nvSpPr>
        <p:spPr/>
        <p:txBody>
          <a:bodyPr/>
          <a:lstStyle/>
          <a:p>
            <a:r>
              <a:rPr sz="2200"/>
              <a:t>How much do individual moths differ?</a:t>
            </a:r>
          </a:p>
          <a:p>
            <a:r>
              <a:rPr sz="2200"/>
              <a:t>About 2 mm, whatever the sample size</a:t>
            </a:r>
          </a:p>
          <a:p>
            <a:r>
              <a:rPr sz="2200"/>
              <a:t>Use it to describe data: mean ± SD</a:t>
            </a:r>
          </a:p>
        </p:txBody>
      </p:sp>
      <p:sp>
        <p:nvSpPr>
          <p:cNvPr id="5" name="Text Placeholder 4"/>
          <p:cNvSpPr>
            <a:spLocks noGrp="1"/>
          </p:cNvSpPr>
          <p:nvPr>
            <p:ph type="body" idx="104"/>
          </p:nvPr>
        </p:nvSpPr>
        <p:spPr/>
        <p:txBody>
          <a:bodyPr/>
          <a:lstStyle/>
          <a:p>
            <a:r>
              <a:t>SEM: UNCERTAINTY IN THE MEAN</a:t>
            </a:r>
          </a:p>
        </p:txBody>
      </p:sp>
      <p:sp>
        <p:nvSpPr>
          <p:cNvPr id="6" name="Text Placeholder 5"/>
          <p:cNvSpPr>
            <a:spLocks noGrp="1"/>
          </p:cNvSpPr>
          <p:nvPr>
            <p:ph type="body" idx="106"/>
          </p:nvPr>
        </p:nvSpPr>
        <p:spPr/>
        <p:txBody>
          <a:bodyPr/>
          <a:lstStyle/>
          <a:p>
            <a:r>
              <a:rPr sz="2200"/>
              <a:t>How much would the sample mean vary between samples?</a:t>
            </a:r>
          </a:p>
          <a:p>
            <a:r>
              <a:rPr sz="2200"/>
              <a:t>SEM = SD / √n: 0.5 mm for n = 16, 0.25 mm for n = 64</a:t>
            </a:r>
          </a:p>
          <a:p>
            <a:r>
              <a:rPr sz="2200"/>
              <a:t>In R: </a:t>
            </a:r>
            <a:r>
              <a:rPr sz="2200">
                <a:latin typeface="Menlo"/>
              </a:rPr>
              <a:t>sd(x) / sqrt(length(x))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 95% confidence interval for the mean</a:t>
            </a:r>
          </a:p>
        </p:txBody>
      </p:sp>
      <p:pic>
        <p:nvPicPr>
          <p:cNvPr id="3" name="Picture Placeholder 2" descr="slide_22_confidence_intervals.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r>
              <a:t>TAKEAWAY</a:t>
            </a:r>
          </a:p>
        </p:txBody>
      </p:sp>
      <p:sp>
        <p:nvSpPr>
          <p:cNvPr id="5" name="Text Placeholder 4"/>
          <p:cNvSpPr>
            <a:spLocks noGrp="1"/>
          </p:cNvSpPr>
          <p:nvPr>
            <p:ph type="body" idx="105"/>
          </p:nvPr>
        </p:nvSpPr>
        <p:spPr/>
        <p:txBody>
          <a:bodyPr/>
          <a:lstStyle/>
          <a:p>
            <a:r>
              <a:rPr sz="2000"/>
              <a:t>About 95% of intervals contain the true mean (here 19 of 20)</a:t>
            </a:r>
          </a:p>
          <a:p>
            <a:r>
              <a:rPr sz="2000"/>
              <a:t>Roughly mean ± 2 × SEM: </a:t>
            </a:r>
            <a:r>
              <a:rPr sz="2000">
                <a:latin typeface="Menlo"/>
              </a:rPr>
              <a:t>t.test(x)$conf.int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r>
              <a:t>4 MIN · PAIRS</a:t>
            </a:r>
          </a:p>
        </p:txBody>
      </p:sp>
      <p:sp>
        <p:nvSpPr>
          <p:cNvPr id="3" name="Title 2"/>
          <p:cNvSpPr>
            <a:spLocks noGrp="1"/>
          </p:cNvSpPr>
          <p:nvPr>
            <p:ph type="title" idx="102"/>
          </p:nvPr>
        </p:nvSpPr>
        <p:spPr/>
        <p:txBody>
          <a:bodyPr/>
          <a:lstStyle/>
          <a:p>
            <a:r>
              <a:t>Which summary or model would you use?</a:t>
            </a:r>
          </a:p>
        </p:txBody>
      </p:sp>
      <p:sp>
        <p:nvSpPr>
          <p:cNvPr id="4" name="Text Placeholder 3"/>
          <p:cNvSpPr>
            <a:spLocks noGrp="1"/>
          </p:cNvSpPr>
          <p:nvPr>
            <p:ph type="body" idx="103"/>
          </p:nvPr>
        </p:nvSpPr>
        <p:spPr/>
        <p:txBody>
          <a:bodyPr/>
          <a:lstStyle/>
          <a:p>
            <a:r>
              <a:t>For each study, first say what the population is.</a:t>
            </a:r>
          </a:p>
          <a:p>
            <a:r>
              <a:t>A  Forewing lengths of 50 moths: describe how variable they are</a:t>
            </a:r>
          </a:p>
          <a:p>
            <a:r>
              <a:t>B  Moths per trap-night on 30 nights: describe a typical night</a:t>
            </a:r>
          </a:p>
          <a:p>
            <a:r>
              <a:t>C  Survival of 40 larvae: how precisely have we estimated survival?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r>
              <a:t>Key points</a:t>
            </a:r>
          </a:p>
        </p:txBody>
      </p:sp>
      <p:sp>
        <p:nvSpPr>
          <p:cNvPr id="3" name="Text Placeholder 2"/>
          <p:cNvSpPr>
            <a:spLocks noGrp="1"/>
          </p:cNvSpPr>
          <p:nvPr>
            <p:ph type="body" idx="102"/>
          </p:nvPr>
        </p:nvSpPr>
        <p:spPr/>
        <p:txBody>
          <a:bodyPr/>
          <a:lstStyle/>
          <a:p>
            <a:r>
              <a:rPr sz="2200"/>
              <a:t>Samples vary by chance; more data cannot fix bias</a:t>
            </a:r>
          </a:p>
          <a:p>
            <a:r>
              <a:rPr sz="2200"/>
              <a:t>Fit summaries to the shape and the question</a:t>
            </a:r>
          </a:p>
          <a:p>
            <a:r>
              <a:rPr sz="2200"/>
              <a:t>Normal (μ, σ) and Poisson (λ) describe possible outcomes</a:t>
            </a:r>
          </a:p>
          <a:p>
            <a:r>
              <a:rPr sz="2200"/>
              <a:t>SD describes moths; SEM and CIs describe uncertainty in the mean</a:t>
            </a:r>
          </a:p>
        </p:txBody>
      </p:sp>
      <p:sp>
        <p:nvSpPr>
          <p:cNvPr id="4" name="Text Placeholder 3"/>
          <p:cNvSpPr>
            <a:spLocks noGrp="1"/>
          </p:cNvSpPr>
          <p:nvPr>
            <p:ph type="body" idx="106"/>
          </p:nvPr>
        </p:nvSpPr>
        <p:spPr/>
        <p:txBody>
          <a:bodyPr/>
          <a:lstStyle/>
          <a:p>
            <a:r>
              <a:rPr sz="1600"/>
              <a:t>Practical: book chapter 11</a:t>
            </a:r>
          </a:p>
          <a:p>
            <a:r>
              <a:rPr sz="1600"/>
              <a:t>11.4 Normal, </a:t>
            </a:r>
            <a:r>
              <a:rPr sz="1600">
                <a:latin typeface="Menlo"/>
              </a:rPr>
              <a:t>rnorm()</a:t>
            </a:r>
          </a:p>
          <a:p>
            <a:r>
              <a:rPr sz="1600"/>
              <a:t>11.6 Poisson, </a:t>
            </a:r>
            <a:r>
              <a:rPr sz="1600">
                <a:latin typeface="Menlo"/>
              </a:rPr>
              <a:t>rpois()</a:t>
            </a:r>
          </a:p>
          <a:p>
            <a:r>
              <a:rPr sz="1600"/>
              <a:t>11.8–11.9 Law of large numbers, virtual dice</a:t>
            </a:r>
          </a:p>
        </p:txBody>
      </p:sp>
    </p:spTree>
  </p:cSld>
  <p:clrMapOvr>
    <a:masterClrMapping/>
  </p:clrMapOvr>
</p:sld>
</file>

<file path=ppt/theme/theme1.xml><?xml version="1.0" encoding="utf-8"?>
<a:theme xmlns:a="http://schemas.openxmlformats.org/drawingml/2006/main" name="BB852 Data Handling, Visualisation and Statistics">
  <a:themeElements>
    <a:clrScheme name="BB852 Data Handling, Visualisation and Statistics">
      <a:dk1>
        <a:srgbClr val="1B2230"/>
      </a:dk1>
      <a:lt1>
        <a:srgbClr val="FBFAF6"/>
      </a:lt1>
      <a:dk2>
        <a:srgbClr val="24405F"/>
      </a:dk2>
      <a:lt2>
        <a:srgbClr val="EDEFF1"/>
      </a:lt2>
      <a:accent1>
        <a:srgbClr val="24405F"/>
      </a:accent1>
      <a:accent2>
        <a:srgbClr val="D0745A"/>
      </a:accent2>
      <a:accent3>
        <a:srgbClr val="2A7F76"/>
      </a:accent3>
      <a:accent4>
        <a:srgbClr val="C4932F"/>
      </a:accent4>
      <a:accent5>
        <a:srgbClr val="9FB0C4"/>
      </a:accent5>
      <a:accent6>
        <a:srgbClr val="6B6E75"/>
      </a:accent6>
      <a:hlink>
        <a:srgbClr val="2D6F8A"/>
      </a:hlink>
      <a:folHlink>
        <a:srgbClr val="6B4E8A"/>
      </a:folHlink>
    </a:clrScheme>
    <a:fontScheme name="BB852 Data Handling, Visualisation and Statistics">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BB852 Data Handling, Visualisation and Statistics</dc:title>
  <dc:subject>PptxGenJS Presentation</dc:subject>
  <dc:creator>Owen Jones</dc:creator>
  <cp:lastModifiedBy>Owen Jones</cp:lastModifiedBy>
  <cp:revision>1</cp:revision>
  <dcterms:created xsi:type="dcterms:W3CDTF">2026-10-14T08:25:59Z</dcterms:created>
  <dcterms:modified xsi:type="dcterms:W3CDTF">2026-10-14T08:25:59Z</dcterms:modified>
</cp:coreProperties>
</file>